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17"/>
  </p:notesMasterIdLst>
  <p:sldIdLst>
    <p:sldId id="12925" r:id="rId4"/>
    <p:sldId id="12919" r:id="rId5"/>
    <p:sldId id="12951" r:id="rId6"/>
    <p:sldId id="12936" r:id="rId7"/>
    <p:sldId id="12957" r:id="rId8"/>
    <p:sldId id="12958" r:id="rId9"/>
    <p:sldId id="12950" r:id="rId10"/>
    <p:sldId id="12933" r:id="rId11"/>
    <p:sldId id="12947" r:id="rId12"/>
    <p:sldId id="12959" r:id="rId22"/>
    <p:sldId id="12960" r:id="rId23"/>
    <p:sldId id="12961" r:id="rId24"/>
    <p:sldId id="12962" r:id="rId25"/>
    <p:sldId id="12917" r:id="rId13"/>
    <p:sldId id="12954" r:id="rId14"/>
    <p:sldId id="12955" r:id="rId15"/>
    <p:sldId id="12956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1" userDrawn="1">
          <p15:clr>
            <a:srgbClr val="A4A3A4"/>
          </p15:clr>
        </p15:guide>
        <p15:guide id="2" orient="horz" pos="622" userDrawn="1">
          <p15:clr>
            <a:srgbClr val="A4A3A4"/>
          </p15:clr>
        </p15:guide>
        <p15:guide id="3" orient="horz" pos="722" userDrawn="1">
          <p15:clr>
            <a:srgbClr val="A4A3A4"/>
          </p15:clr>
        </p15:guide>
        <p15:guide id="4" orient="horz" pos="3924" userDrawn="1">
          <p15:clr>
            <a:srgbClr val="A4A3A4"/>
          </p15:clr>
        </p15:guide>
        <p15:guide id="5" orient="horz" pos="3882" userDrawn="1">
          <p15:clr>
            <a:srgbClr val="A4A3A4"/>
          </p15:clr>
        </p15:guide>
        <p15:guide id="6" pos="3819" userDrawn="1">
          <p15:clr>
            <a:srgbClr val="A4A3A4"/>
          </p15:clr>
        </p15:guide>
        <p15:guide id="7" pos="454" userDrawn="1">
          <p15:clr>
            <a:srgbClr val="A4A3A4"/>
          </p15:clr>
        </p15:guide>
        <p15:guide id="8" pos="72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FF4"/>
    <a:srgbClr val="F5F5F5"/>
    <a:srgbClr val="B8B8B8"/>
    <a:srgbClr val="B9B9B9"/>
    <a:srgbClr val="F3F3F3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82" autoAdjust="0"/>
  </p:normalViewPr>
  <p:slideViewPr>
    <p:cSldViewPr snapToGrid="0" showGuides="1">
      <p:cViewPr>
        <p:scale>
          <a:sx n="100" d="100"/>
          <a:sy n="100" d="100"/>
        </p:scale>
        <p:origin x="-948" y="-432"/>
      </p:cViewPr>
      <p:guideLst>
        <p:guide orient="horz" pos="2361"/>
        <p:guide orient="horz" pos="622"/>
        <p:guide orient="horz" pos="722"/>
        <p:guide orient="horz" pos="3924"/>
        <p:guide orient="horz" pos="3882"/>
        <p:guide pos="3819"/>
        <p:guide pos="454"/>
        <p:guide pos="72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tags" Target="tags/tag130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146A7-EF4B-41B9-A9CD-B6A31AEF3C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91876-1B78-4C85-8416-02DC3C6D60D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1ppt.com/hangye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12560"/>
            <a:ext cx="12192000" cy="6870560"/>
            <a:chOff x="0" y="-12560"/>
            <a:chExt cx="12192000" cy="6870560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2" cstate="email"/>
            <a:srcRect l="9248" t="23463" r="15610" b="1119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22" name="矩形 21"/>
            <p:cNvSpPr/>
            <p:nvPr userDrawn="1"/>
          </p:nvSpPr>
          <p:spPr>
            <a:xfrm>
              <a:off x="0" y="-12560"/>
              <a:ext cx="11131826" cy="6858000"/>
            </a:xfrm>
            <a:prstGeom prst="rect">
              <a:avLst/>
            </a:prstGeom>
            <a:gradFill>
              <a:gsLst>
                <a:gs pos="51000">
                  <a:srgbClr val="356EC2">
                    <a:alpha val="50000"/>
                  </a:srgbClr>
                </a:gs>
                <a:gs pos="24000">
                  <a:schemeClr val="accent1">
                    <a:alpha val="0"/>
                  </a:schemeClr>
                </a:gs>
                <a:gs pos="82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片 15"/>
            <p:cNvPicPr>
              <a:picLocks noChangeAspect="1"/>
            </p:cNvPicPr>
            <p:nvPr userDrawn="1"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2234918"/>
              <a:ext cx="12192000" cy="4623082"/>
            </a:xfrm>
            <a:custGeom>
              <a:avLst/>
              <a:gdLst>
                <a:gd name="connsiteX0" fmla="*/ 0 w 12192000"/>
                <a:gd name="connsiteY0" fmla="*/ 0 h 4623082"/>
                <a:gd name="connsiteX1" fmla="*/ 12192000 w 12192000"/>
                <a:gd name="connsiteY1" fmla="*/ 0 h 4623082"/>
                <a:gd name="connsiteX2" fmla="*/ 12192000 w 12192000"/>
                <a:gd name="connsiteY2" fmla="*/ 4623082 h 4623082"/>
                <a:gd name="connsiteX3" fmla="*/ 0 w 12192000"/>
                <a:gd name="connsiteY3" fmla="*/ 4623082 h 462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623082">
                  <a:moveTo>
                    <a:pt x="0" y="0"/>
                  </a:moveTo>
                  <a:lnTo>
                    <a:pt x="12192000" y="0"/>
                  </a:lnTo>
                  <a:lnTo>
                    <a:pt x="12192000" y="4623082"/>
                  </a:lnTo>
                  <a:lnTo>
                    <a:pt x="0" y="4623082"/>
                  </a:lnTo>
                  <a:close/>
                </a:path>
              </a:pathLst>
            </a:custGeom>
          </p:spPr>
        </p:pic>
        <p:grpSp>
          <p:nvGrpSpPr>
            <p:cNvPr id="20" name="组合 19"/>
            <p:cNvGrpSpPr/>
            <p:nvPr userDrawn="1"/>
          </p:nvGrpSpPr>
          <p:grpSpPr>
            <a:xfrm flipH="1">
              <a:off x="9139274" y="661909"/>
              <a:ext cx="2381004" cy="86027"/>
              <a:chOff x="660400" y="1044273"/>
              <a:chExt cx="2381004" cy="86027"/>
            </a:xfrm>
            <a:solidFill>
              <a:schemeClr val="accent2"/>
            </a:solidFill>
          </p:grpSpPr>
          <p:sp>
            <p:nvSpPr>
              <p:cNvPr id="23" name="矩形: 圆角 22"/>
              <p:cNvSpPr/>
              <p:nvPr/>
            </p:nvSpPr>
            <p:spPr>
              <a:xfrm>
                <a:off x="660400" y="1044273"/>
                <a:ext cx="376622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098297" y="1044273"/>
                <a:ext cx="117755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1366787" y="1087286"/>
                <a:ext cx="1674617" cy="0"/>
              </a:xfrm>
              <a:prstGeom prst="line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 rot="5400000">
            <a:off x="867801" y="3933885"/>
            <a:ext cx="1256812" cy="372347"/>
          </a:xfrm>
          <a:custGeom>
            <a:avLst/>
            <a:gdLst>
              <a:gd name="connsiteX0" fmla="*/ 2208849 w 2295935"/>
              <a:gd name="connsiteY0" fmla="*/ 506027 h 680199"/>
              <a:gd name="connsiteX1" fmla="*/ 2295935 w 2295935"/>
              <a:gd name="connsiteY1" fmla="*/ 593113 h 680199"/>
              <a:gd name="connsiteX2" fmla="*/ 2208849 w 2295935"/>
              <a:gd name="connsiteY2" fmla="*/ 680199 h 680199"/>
              <a:gd name="connsiteX3" fmla="*/ 2121763 w 2295935"/>
              <a:gd name="connsiteY3" fmla="*/ 593113 h 680199"/>
              <a:gd name="connsiteX4" fmla="*/ 2208849 w 2295935"/>
              <a:gd name="connsiteY4" fmla="*/ 506027 h 680199"/>
              <a:gd name="connsiteX5" fmla="*/ 1784498 w 2295935"/>
              <a:gd name="connsiteY5" fmla="*/ 506027 h 680199"/>
              <a:gd name="connsiteX6" fmla="*/ 1871584 w 2295935"/>
              <a:gd name="connsiteY6" fmla="*/ 593113 h 680199"/>
              <a:gd name="connsiteX7" fmla="*/ 1784498 w 2295935"/>
              <a:gd name="connsiteY7" fmla="*/ 680199 h 680199"/>
              <a:gd name="connsiteX8" fmla="*/ 1697412 w 2295935"/>
              <a:gd name="connsiteY8" fmla="*/ 593113 h 680199"/>
              <a:gd name="connsiteX9" fmla="*/ 1784498 w 2295935"/>
              <a:gd name="connsiteY9" fmla="*/ 506027 h 680199"/>
              <a:gd name="connsiteX10" fmla="*/ 1360145 w 2295935"/>
              <a:gd name="connsiteY10" fmla="*/ 506027 h 680199"/>
              <a:gd name="connsiteX11" fmla="*/ 1447231 w 2295935"/>
              <a:gd name="connsiteY11" fmla="*/ 593113 h 680199"/>
              <a:gd name="connsiteX12" fmla="*/ 1360145 w 2295935"/>
              <a:gd name="connsiteY12" fmla="*/ 680199 h 680199"/>
              <a:gd name="connsiteX13" fmla="*/ 1273059 w 2295935"/>
              <a:gd name="connsiteY13" fmla="*/ 593113 h 680199"/>
              <a:gd name="connsiteX14" fmla="*/ 1360145 w 2295935"/>
              <a:gd name="connsiteY14" fmla="*/ 506027 h 680199"/>
              <a:gd name="connsiteX15" fmla="*/ 935792 w 2295935"/>
              <a:gd name="connsiteY15" fmla="*/ 506027 h 680199"/>
              <a:gd name="connsiteX16" fmla="*/ 1022878 w 2295935"/>
              <a:gd name="connsiteY16" fmla="*/ 593113 h 680199"/>
              <a:gd name="connsiteX17" fmla="*/ 935792 w 2295935"/>
              <a:gd name="connsiteY17" fmla="*/ 680199 h 680199"/>
              <a:gd name="connsiteX18" fmla="*/ 848706 w 2295935"/>
              <a:gd name="connsiteY18" fmla="*/ 593113 h 680199"/>
              <a:gd name="connsiteX19" fmla="*/ 935792 w 2295935"/>
              <a:gd name="connsiteY19" fmla="*/ 506027 h 680199"/>
              <a:gd name="connsiteX20" fmla="*/ 511439 w 2295935"/>
              <a:gd name="connsiteY20" fmla="*/ 506027 h 680199"/>
              <a:gd name="connsiteX21" fmla="*/ 598525 w 2295935"/>
              <a:gd name="connsiteY21" fmla="*/ 593113 h 680199"/>
              <a:gd name="connsiteX22" fmla="*/ 511439 w 2295935"/>
              <a:gd name="connsiteY22" fmla="*/ 680199 h 680199"/>
              <a:gd name="connsiteX23" fmla="*/ 424353 w 2295935"/>
              <a:gd name="connsiteY23" fmla="*/ 593113 h 680199"/>
              <a:gd name="connsiteX24" fmla="*/ 511439 w 2295935"/>
              <a:gd name="connsiteY24" fmla="*/ 506027 h 680199"/>
              <a:gd name="connsiteX25" fmla="*/ 87086 w 2295935"/>
              <a:gd name="connsiteY25" fmla="*/ 506027 h 680199"/>
              <a:gd name="connsiteX26" fmla="*/ 174172 w 2295935"/>
              <a:gd name="connsiteY26" fmla="*/ 593113 h 680199"/>
              <a:gd name="connsiteX27" fmla="*/ 87086 w 2295935"/>
              <a:gd name="connsiteY27" fmla="*/ 680199 h 680199"/>
              <a:gd name="connsiteX28" fmla="*/ 0 w 2295935"/>
              <a:gd name="connsiteY28" fmla="*/ 593113 h 680199"/>
              <a:gd name="connsiteX29" fmla="*/ 87086 w 2295935"/>
              <a:gd name="connsiteY29" fmla="*/ 506027 h 680199"/>
              <a:gd name="connsiteX30" fmla="*/ 2208849 w 2295935"/>
              <a:gd name="connsiteY30" fmla="*/ 253014 h 680199"/>
              <a:gd name="connsiteX31" fmla="*/ 2295935 w 2295935"/>
              <a:gd name="connsiteY31" fmla="*/ 340100 h 680199"/>
              <a:gd name="connsiteX32" fmla="*/ 2208849 w 2295935"/>
              <a:gd name="connsiteY32" fmla="*/ 427186 h 680199"/>
              <a:gd name="connsiteX33" fmla="*/ 2121763 w 2295935"/>
              <a:gd name="connsiteY33" fmla="*/ 340100 h 680199"/>
              <a:gd name="connsiteX34" fmla="*/ 2208849 w 2295935"/>
              <a:gd name="connsiteY34" fmla="*/ 253014 h 680199"/>
              <a:gd name="connsiteX35" fmla="*/ 1784498 w 2295935"/>
              <a:gd name="connsiteY35" fmla="*/ 253014 h 680199"/>
              <a:gd name="connsiteX36" fmla="*/ 1871584 w 2295935"/>
              <a:gd name="connsiteY36" fmla="*/ 340100 h 680199"/>
              <a:gd name="connsiteX37" fmla="*/ 1784498 w 2295935"/>
              <a:gd name="connsiteY37" fmla="*/ 427186 h 680199"/>
              <a:gd name="connsiteX38" fmla="*/ 1697412 w 2295935"/>
              <a:gd name="connsiteY38" fmla="*/ 340100 h 680199"/>
              <a:gd name="connsiteX39" fmla="*/ 1784498 w 2295935"/>
              <a:gd name="connsiteY39" fmla="*/ 253014 h 680199"/>
              <a:gd name="connsiteX40" fmla="*/ 1360145 w 2295935"/>
              <a:gd name="connsiteY40" fmla="*/ 253014 h 680199"/>
              <a:gd name="connsiteX41" fmla="*/ 1447231 w 2295935"/>
              <a:gd name="connsiteY41" fmla="*/ 340100 h 680199"/>
              <a:gd name="connsiteX42" fmla="*/ 1360145 w 2295935"/>
              <a:gd name="connsiteY42" fmla="*/ 427186 h 680199"/>
              <a:gd name="connsiteX43" fmla="*/ 1273059 w 2295935"/>
              <a:gd name="connsiteY43" fmla="*/ 340100 h 680199"/>
              <a:gd name="connsiteX44" fmla="*/ 1360145 w 2295935"/>
              <a:gd name="connsiteY44" fmla="*/ 253014 h 680199"/>
              <a:gd name="connsiteX45" fmla="*/ 935792 w 2295935"/>
              <a:gd name="connsiteY45" fmla="*/ 253014 h 680199"/>
              <a:gd name="connsiteX46" fmla="*/ 1022878 w 2295935"/>
              <a:gd name="connsiteY46" fmla="*/ 340100 h 680199"/>
              <a:gd name="connsiteX47" fmla="*/ 935792 w 2295935"/>
              <a:gd name="connsiteY47" fmla="*/ 427186 h 680199"/>
              <a:gd name="connsiteX48" fmla="*/ 848706 w 2295935"/>
              <a:gd name="connsiteY48" fmla="*/ 340100 h 680199"/>
              <a:gd name="connsiteX49" fmla="*/ 935792 w 2295935"/>
              <a:gd name="connsiteY49" fmla="*/ 253014 h 680199"/>
              <a:gd name="connsiteX50" fmla="*/ 511439 w 2295935"/>
              <a:gd name="connsiteY50" fmla="*/ 253014 h 680199"/>
              <a:gd name="connsiteX51" fmla="*/ 598525 w 2295935"/>
              <a:gd name="connsiteY51" fmla="*/ 340100 h 680199"/>
              <a:gd name="connsiteX52" fmla="*/ 511439 w 2295935"/>
              <a:gd name="connsiteY52" fmla="*/ 427186 h 680199"/>
              <a:gd name="connsiteX53" fmla="*/ 424353 w 2295935"/>
              <a:gd name="connsiteY53" fmla="*/ 340100 h 680199"/>
              <a:gd name="connsiteX54" fmla="*/ 511439 w 2295935"/>
              <a:gd name="connsiteY54" fmla="*/ 253014 h 680199"/>
              <a:gd name="connsiteX55" fmla="*/ 87086 w 2295935"/>
              <a:gd name="connsiteY55" fmla="*/ 253014 h 680199"/>
              <a:gd name="connsiteX56" fmla="*/ 174172 w 2295935"/>
              <a:gd name="connsiteY56" fmla="*/ 340100 h 680199"/>
              <a:gd name="connsiteX57" fmla="*/ 87086 w 2295935"/>
              <a:gd name="connsiteY57" fmla="*/ 427186 h 680199"/>
              <a:gd name="connsiteX58" fmla="*/ 0 w 2295935"/>
              <a:gd name="connsiteY58" fmla="*/ 340100 h 680199"/>
              <a:gd name="connsiteX59" fmla="*/ 87086 w 2295935"/>
              <a:gd name="connsiteY59" fmla="*/ 253014 h 680199"/>
              <a:gd name="connsiteX60" fmla="*/ 2208849 w 2295935"/>
              <a:gd name="connsiteY60" fmla="*/ 0 h 680199"/>
              <a:gd name="connsiteX61" fmla="*/ 2295935 w 2295935"/>
              <a:gd name="connsiteY61" fmla="*/ 87086 h 680199"/>
              <a:gd name="connsiteX62" fmla="*/ 2208849 w 2295935"/>
              <a:gd name="connsiteY62" fmla="*/ 174172 h 680199"/>
              <a:gd name="connsiteX63" fmla="*/ 2121763 w 2295935"/>
              <a:gd name="connsiteY63" fmla="*/ 87086 h 680199"/>
              <a:gd name="connsiteX64" fmla="*/ 2208849 w 2295935"/>
              <a:gd name="connsiteY64" fmla="*/ 0 h 680199"/>
              <a:gd name="connsiteX65" fmla="*/ 1784498 w 2295935"/>
              <a:gd name="connsiteY65" fmla="*/ 0 h 680199"/>
              <a:gd name="connsiteX66" fmla="*/ 1871584 w 2295935"/>
              <a:gd name="connsiteY66" fmla="*/ 87086 h 680199"/>
              <a:gd name="connsiteX67" fmla="*/ 1784498 w 2295935"/>
              <a:gd name="connsiteY67" fmla="*/ 174172 h 680199"/>
              <a:gd name="connsiteX68" fmla="*/ 1697412 w 2295935"/>
              <a:gd name="connsiteY68" fmla="*/ 87086 h 680199"/>
              <a:gd name="connsiteX69" fmla="*/ 1784498 w 2295935"/>
              <a:gd name="connsiteY69" fmla="*/ 0 h 680199"/>
              <a:gd name="connsiteX70" fmla="*/ 1360145 w 2295935"/>
              <a:gd name="connsiteY70" fmla="*/ 0 h 680199"/>
              <a:gd name="connsiteX71" fmla="*/ 1447231 w 2295935"/>
              <a:gd name="connsiteY71" fmla="*/ 87086 h 680199"/>
              <a:gd name="connsiteX72" fmla="*/ 1360145 w 2295935"/>
              <a:gd name="connsiteY72" fmla="*/ 174172 h 680199"/>
              <a:gd name="connsiteX73" fmla="*/ 1273059 w 2295935"/>
              <a:gd name="connsiteY73" fmla="*/ 87086 h 680199"/>
              <a:gd name="connsiteX74" fmla="*/ 1360145 w 2295935"/>
              <a:gd name="connsiteY74" fmla="*/ 0 h 680199"/>
              <a:gd name="connsiteX75" fmla="*/ 935792 w 2295935"/>
              <a:gd name="connsiteY75" fmla="*/ 0 h 680199"/>
              <a:gd name="connsiteX76" fmla="*/ 1022878 w 2295935"/>
              <a:gd name="connsiteY76" fmla="*/ 87086 h 680199"/>
              <a:gd name="connsiteX77" fmla="*/ 935792 w 2295935"/>
              <a:gd name="connsiteY77" fmla="*/ 174172 h 680199"/>
              <a:gd name="connsiteX78" fmla="*/ 848706 w 2295935"/>
              <a:gd name="connsiteY78" fmla="*/ 87086 h 680199"/>
              <a:gd name="connsiteX79" fmla="*/ 935792 w 2295935"/>
              <a:gd name="connsiteY79" fmla="*/ 0 h 680199"/>
              <a:gd name="connsiteX80" fmla="*/ 511439 w 2295935"/>
              <a:gd name="connsiteY80" fmla="*/ 0 h 680199"/>
              <a:gd name="connsiteX81" fmla="*/ 598525 w 2295935"/>
              <a:gd name="connsiteY81" fmla="*/ 87086 h 680199"/>
              <a:gd name="connsiteX82" fmla="*/ 511439 w 2295935"/>
              <a:gd name="connsiteY82" fmla="*/ 174172 h 680199"/>
              <a:gd name="connsiteX83" fmla="*/ 424353 w 2295935"/>
              <a:gd name="connsiteY83" fmla="*/ 87086 h 680199"/>
              <a:gd name="connsiteX84" fmla="*/ 511439 w 2295935"/>
              <a:gd name="connsiteY84" fmla="*/ 0 h 680199"/>
              <a:gd name="connsiteX85" fmla="*/ 87086 w 2295935"/>
              <a:gd name="connsiteY85" fmla="*/ 0 h 680199"/>
              <a:gd name="connsiteX86" fmla="*/ 174172 w 2295935"/>
              <a:gd name="connsiteY86" fmla="*/ 87086 h 680199"/>
              <a:gd name="connsiteX87" fmla="*/ 87086 w 2295935"/>
              <a:gd name="connsiteY87" fmla="*/ 174172 h 680199"/>
              <a:gd name="connsiteX88" fmla="*/ 0 w 2295935"/>
              <a:gd name="connsiteY88" fmla="*/ 87086 h 680199"/>
              <a:gd name="connsiteX89" fmla="*/ 87086 w 2295935"/>
              <a:gd name="connsiteY89" fmla="*/ 0 h 680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295935" h="680199">
                <a:moveTo>
                  <a:pt x="2208849" y="506027"/>
                </a:moveTo>
                <a:cubicBezTo>
                  <a:pt x="2256945" y="506027"/>
                  <a:pt x="2295935" y="545017"/>
                  <a:pt x="2295935" y="593113"/>
                </a:cubicBezTo>
                <a:cubicBezTo>
                  <a:pt x="2295935" y="641209"/>
                  <a:pt x="2256945" y="680199"/>
                  <a:pt x="2208849" y="680199"/>
                </a:cubicBezTo>
                <a:cubicBezTo>
                  <a:pt x="2160753" y="680199"/>
                  <a:pt x="2121763" y="641209"/>
                  <a:pt x="2121763" y="593113"/>
                </a:cubicBezTo>
                <a:cubicBezTo>
                  <a:pt x="2121763" y="545017"/>
                  <a:pt x="2160753" y="506027"/>
                  <a:pt x="2208849" y="506027"/>
                </a:cubicBezTo>
                <a:close/>
                <a:moveTo>
                  <a:pt x="1784498" y="506027"/>
                </a:moveTo>
                <a:cubicBezTo>
                  <a:pt x="1832594" y="506027"/>
                  <a:pt x="1871584" y="545017"/>
                  <a:pt x="1871584" y="593113"/>
                </a:cubicBezTo>
                <a:cubicBezTo>
                  <a:pt x="1871584" y="641209"/>
                  <a:pt x="1832594" y="680199"/>
                  <a:pt x="1784498" y="680199"/>
                </a:cubicBezTo>
                <a:cubicBezTo>
                  <a:pt x="1736402" y="680199"/>
                  <a:pt x="1697412" y="641209"/>
                  <a:pt x="1697412" y="593113"/>
                </a:cubicBezTo>
                <a:cubicBezTo>
                  <a:pt x="1697412" y="545017"/>
                  <a:pt x="1736402" y="506027"/>
                  <a:pt x="1784498" y="506027"/>
                </a:cubicBezTo>
                <a:close/>
                <a:moveTo>
                  <a:pt x="1360145" y="506027"/>
                </a:moveTo>
                <a:cubicBezTo>
                  <a:pt x="1408241" y="506027"/>
                  <a:pt x="1447231" y="545017"/>
                  <a:pt x="1447231" y="593113"/>
                </a:cubicBezTo>
                <a:cubicBezTo>
                  <a:pt x="1447231" y="641209"/>
                  <a:pt x="1408241" y="680199"/>
                  <a:pt x="1360145" y="680199"/>
                </a:cubicBezTo>
                <a:cubicBezTo>
                  <a:pt x="1312049" y="680199"/>
                  <a:pt x="1273059" y="641209"/>
                  <a:pt x="1273059" y="593113"/>
                </a:cubicBezTo>
                <a:cubicBezTo>
                  <a:pt x="1273059" y="545017"/>
                  <a:pt x="1312049" y="506027"/>
                  <a:pt x="1360145" y="506027"/>
                </a:cubicBezTo>
                <a:close/>
                <a:moveTo>
                  <a:pt x="935792" y="506027"/>
                </a:moveTo>
                <a:cubicBezTo>
                  <a:pt x="983888" y="506027"/>
                  <a:pt x="1022878" y="545017"/>
                  <a:pt x="1022878" y="593113"/>
                </a:cubicBezTo>
                <a:cubicBezTo>
                  <a:pt x="1022878" y="641209"/>
                  <a:pt x="983888" y="680199"/>
                  <a:pt x="935792" y="680199"/>
                </a:cubicBezTo>
                <a:cubicBezTo>
                  <a:pt x="887696" y="680199"/>
                  <a:pt x="848706" y="641209"/>
                  <a:pt x="848706" y="593113"/>
                </a:cubicBezTo>
                <a:cubicBezTo>
                  <a:pt x="848706" y="545017"/>
                  <a:pt x="887696" y="506027"/>
                  <a:pt x="935792" y="506027"/>
                </a:cubicBezTo>
                <a:close/>
                <a:moveTo>
                  <a:pt x="511439" y="506027"/>
                </a:moveTo>
                <a:cubicBezTo>
                  <a:pt x="559535" y="506027"/>
                  <a:pt x="598525" y="545017"/>
                  <a:pt x="598525" y="593113"/>
                </a:cubicBezTo>
                <a:cubicBezTo>
                  <a:pt x="598525" y="641209"/>
                  <a:pt x="559535" y="680199"/>
                  <a:pt x="511439" y="680199"/>
                </a:cubicBezTo>
                <a:cubicBezTo>
                  <a:pt x="463343" y="680199"/>
                  <a:pt x="424353" y="641209"/>
                  <a:pt x="424353" y="593113"/>
                </a:cubicBezTo>
                <a:cubicBezTo>
                  <a:pt x="424353" y="545017"/>
                  <a:pt x="463343" y="506027"/>
                  <a:pt x="511439" y="506027"/>
                </a:cubicBezTo>
                <a:close/>
                <a:moveTo>
                  <a:pt x="87086" y="506027"/>
                </a:moveTo>
                <a:cubicBezTo>
                  <a:pt x="135182" y="506027"/>
                  <a:pt x="174172" y="545017"/>
                  <a:pt x="174172" y="593113"/>
                </a:cubicBezTo>
                <a:cubicBezTo>
                  <a:pt x="174172" y="641209"/>
                  <a:pt x="135182" y="680199"/>
                  <a:pt x="87086" y="680199"/>
                </a:cubicBezTo>
                <a:cubicBezTo>
                  <a:pt x="38990" y="680199"/>
                  <a:pt x="0" y="641209"/>
                  <a:pt x="0" y="593113"/>
                </a:cubicBezTo>
                <a:cubicBezTo>
                  <a:pt x="0" y="545017"/>
                  <a:pt x="38990" y="506027"/>
                  <a:pt x="87086" y="506027"/>
                </a:cubicBezTo>
                <a:close/>
                <a:moveTo>
                  <a:pt x="2208849" y="253014"/>
                </a:moveTo>
                <a:cubicBezTo>
                  <a:pt x="2256945" y="253014"/>
                  <a:pt x="2295935" y="292004"/>
                  <a:pt x="2295935" y="340100"/>
                </a:cubicBezTo>
                <a:cubicBezTo>
                  <a:pt x="2295935" y="388196"/>
                  <a:pt x="2256945" y="427186"/>
                  <a:pt x="2208849" y="427186"/>
                </a:cubicBezTo>
                <a:cubicBezTo>
                  <a:pt x="2160753" y="427186"/>
                  <a:pt x="2121763" y="388196"/>
                  <a:pt x="2121763" y="340100"/>
                </a:cubicBezTo>
                <a:cubicBezTo>
                  <a:pt x="2121763" y="292004"/>
                  <a:pt x="2160753" y="253014"/>
                  <a:pt x="2208849" y="253014"/>
                </a:cubicBezTo>
                <a:close/>
                <a:moveTo>
                  <a:pt x="1784498" y="253014"/>
                </a:moveTo>
                <a:cubicBezTo>
                  <a:pt x="1832594" y="253014"/>
                  <a:pt x="1871584" y="292004"/>
                  <a:pt x="1871584" y="340100"/>
                </a:cubicBezTo>
                <a:cubicBezTo>
                  <a:pt x="1871584" y="388196"/>
                  <a:pt x="1832594" y="427186"/>
                  <a:pt x="1784498" y="427186"/>
                </a:cubicBezTo>
                <a:cubicBezTo>
                  <a:pt x="1736402" y="427186"/>
                  <a:pt x="1697412" y="388196"/>
                  <a:pt x="1697412" y="340100"/>
                </a:cubicBezTo>
                <a:cubicBezTo>
                  <a:pt x="1697412" y="292004"/>
                  <a:pt x="1736402" y="253014"/>
                  <a:pt x="1784498" y="253014"/>
                </a:cubicBezTo>
                <a:close/>
                <a:moveTo>
                  <a:pt x="1360145" y="253014"/>
                </a:moveTo>
                <a:cubicBezTo>
                  <a:pt x="1408241" y="253014"/>
                  <a:pt x="1447231" y="292004"/>
                  <a:pt x="1447231" y="340100"/>
                </a:cubicBezTo>
                <a:cubicBezTo>
                  <a:pt x="1447231" y="388196"/>
                  <a:pt x="1408241" y="427186"/>
                  <a:pt x="1360145" y="427186"/>
                </a:cubicBezTo>
                <a:cubicBezTo>
                  <a:pt x="1312049" y="427186"/>
                  <a:pt x="1273059" y="388196"/>
                  <a:pt x="1273059" y="340100"/>
                </a:cubicBezTo>
                <a:cubicBezTo>
                  <a:pt x="1273059" y="292004"/>
                  <a:pt x="1312049" y="253014"/>
                  <a:pt x="1360145" y="253014"/>
                </a:cubicBezTo>
                <a:close/>
                <a:moveTo>
                  <a:pt x="935792" y="253014"/>
                </a:moveTo>
                <a:cubicBezTo>
                  <a:pt x="983888" y="253014"/>
                  <a:pt x="1022878" y="292004"/>
                  <a:pt x="1022878" y="340100"/>
                </a:cubicBezTo>
                <a:cubicBezTo>
                  <a:pt x="1022878" y="388196"/>
                  <a:pt x="983888" y="427186"/>
                  <a:pt x="935792" y="427186"/>
                </a:cubicBezTo>
                <a:cubicBezTo>
                  <a:pt x="887696" y="427186"/>
                  <a:pt x="848706" y="388196"/>
                  <a:pt x="848706" y="340100"/>
                </a:cubicBezTo>
                <a:cubicBezTo>
                  <a:pt x="848706" y="292004"/>
                  <a:pt x="887696" y="253014"/>
                  <a:pt x="935792" y="253014"/>
                </a:cubicBezTo>
                <a:close/>
                <a:moveTo>
                  <a:pt x="511439" y="253014"/>
                </a:moveTo>
                <a:cubicBezTo>
                  <a:pt x="559535" y="253014"/>
                  <a:pt x="598525" y="292004"/>
                  <a:pt x="598525" y="340100"/>
                </a:cubicBezTo>
                <a:cubicBezTo>
                  <a:pt x="598525" y="388196"/>
                  <a:pt x="559535" y="427186"/>
                  <a:pt x="511439" y="427186"/>
                </a:cubicBezTo>
                <a:cubicBezTo>
                  <a:pt x="463343" y="427186"/>
                  <a:pt x="424353" y="388196"/>
                  <a:pt x="424353" y="340100"/>
                </a:cubicBezTo>
                <a:cubicBezTo>
                  <a:pt x="424353" y="292004"/>
                  <a:pt x="463343" y="253014"/>
                  <a:pt x="511439" y="253014"/>
                </a:cubicBezTo>
                <a:close/>
                <a:moveTo>
                  <a:pt x="87086" y="253014"/>
                </a:moveTo>
                <a:cubicBezTo>
                  <a:pt x="135182" y="253014"/>
                  <a:pt x="174172" y="292004"/>
                  <a:pt x="174172" y="340100"/>
                </a:cubicBezTo>
                <a:cubicBezTo>
                  <a:pt x="174172" y="388196"/>
                  <a:pt x="135182" y="427186"/>
                  <a:pt x="87086" y="427186"/>
                </a:cubicBezTo>
                <a:cubicBezTo>
                  <a:pt x="38990" y="427186"/>
                  <a:pt x="0" y="388196"/>
                  <a:pt x="0" y="340100"/>
                </a:cubicBezTo>
                <a:cubicBezTo>
                  <a:pt x="0" y="292004"/>
                  <a:pt x="38990" y="253014"/>
                  <a:pt x="87086" y="253014"/>
                </a:cubicBezTo>
                <a:close/>
                <a:moveTo>
                  <a:pt x="2208849" y="0"/>
                </a:moveTo>
                <a:cubicBezTo>
                  <a:pt x="2256945" y="0"/>
                  <a:pt x="2295935" y="38990"/>
                  <a:pt x="2295935" y="87086"/>
                </a:cubicBezTo>
                <a:cubicBezTo>
                  <a:pt x="2295935" y="135182"/>
                  <a:pt x="2256945" y="174172"/>
                  <a:pt x="2208849" y="174172"/>
                </a:cubicBezTo>
                <a:cubicBezTo>
                  <a:pt x="2160753" y="174172"/>
                  <a:pt x="2121763" y="135182"/>
                  <a:pt x="2121763" y="87086"/>
                </a:cubicBezTo>
                <a:cubicBezTo>
                  <a:pt x="2121763" y="38990"/>
                  <a:pt x="2160753" y="0"/>
                  <a:pt x="2208849" y="0"/>
                </a:cubicBezTo>
                <a:close/>
                <a:moveTo>
                  <a:pt x="1784498" y="0"/>
                </a:moveTo>
                <a:cubicBezTo>
                  <a:pt x="1832594" y="0"/>
                  <a:pt x="1871584" y="38990"/>
                  <a:pt x="1871584" y="87086"/>
                </a:cubicBezTo>
                <a:cubicBezTo>
                  <a:pt x="1871584" y="135182"/>
                  <a:pt x="1832594" y="174172"/>
                  <a:pt x="1784498" y="174172"/>
                </a:cubicBezTo>
                <a:cubicBezTo>
                  <a:pt x="1736402" y="174172"/>
                  <a:pt x="1697412" y="135182"/>
                  <a:pt x="1697412" y="87086"/>
                </a:cubicBezTo>
                <a:cubicBezTo>
                  <a:pt x="1697412" y="38990"/>
                  <a:pt x="1736402" y="0"/>
                  <a:pt x="1784498" y="0"/>
                </a:cubicBezTo>
                <a:close/>
                <a:moveTo>
                  <a:pt x="1360145" y="0"/>
                </a:moveTo>
                <a:cubicBezTo>
                  <a:pt x="1408241" y="0"/>
                  <a:pt x="1447231" y="38990"/>
                  <a:pt x="1447231" y="87086"/>
                </a:cubicBezTo>
                <a:cubicBezTo>
                  <a:pt x="1447231" y="135182"/>
                  <a:pt x="1408241" y="174172"/>
                  <a:pt x="1360145" y="174172"/>
                </a:cubicBezTo>
                <a:cubicBezTo>
                  <a:pt x="1312049" y="174172"/>
                  <a:pt x="1273059" y="135182"/>
                  <a:pt x="1273059" y="87086"/>
                </a:cubicBezTo>
                <a:cubicBezTo>
                  <a:pt x="1273059" y="38990"/>
                  <a:pt x="1312049" y="0"/>
                  <a:pt x="1360145" y="0"/>
                </a:cubicBezTo>
                <a:close/>
                <a:moveTo>
                  <a:pt x="935792" y="0"/>
                </a:moveTo>
                <a:cubicBezTo>
                  <a:pt x="983888" y="0"/>
                  <a:pt x="1022878" y="38990"/>
                  <a:pt x="1022878" y="87086"/>
                </a:cubicBezTo>
                <a:cubicBezTo>
                  <a:pt x="1022878" y="135182"/>
                  <a:pt x="983888" y="174172"/>
                  <a:pt x="935792" y="174172"/>
                </a:cubicBezTo>
                <a:cubicBezTo>
                  <a:pt x="887696" y="174172"/>
                  <a:pt x="848706" y="135182"/>
                  <a:pt x="848706" y="87086"/>
                </a:cubicBezTo>
                <a:cubicBezTo>
                  <a:pt x="848706" y="38990"/>
                  <a:pt x="887696" y="0"/>
                  <a:pt x="935792" y="0"/>
                </a:cubicBezTo>
                <a:close/>
                <a:moveTo>
                  <a:pt x="511439" y="0"/>
                </a:moveTo>
                <a:cubicBezTo>
                  <a:pt x="559535" y="0"/>
                  <a:pt x="598525" y="38990"/>
                  <a:pt x="598525" y="87086"/>
                </a:cubicBezTo>
                <a:cubicBezTo>
                  <a:pt x="598525" y="135182"/>
                  <a:pt x="559535" y="174172"/>
                  <a:pt x="511439" y="174172"/>
                </a:cubicBezTo>
                <a:cubicBezTo>
                  <a:pt x="463343" y="174172"/>
                  <a:pt x="424353" y="135182"/>
                  <a:pt x="424353" y="87086"/>
                </a:cubicBezTo>
                <a:cubicBezTo>
                  <a:pt x="424353" y="38990"/>
                  <a:pt x="463343" y="0"/>
                  <a:pt x="511439" y="0"/>
                </a:cubicBezTo>
                <a:close/>
                <a:moveTo>
                  <a:pt x="87086" y="0"/>
                </a:moveTo>
                <a:cubicBezTo>
                  <a:pt x="135182" y="0"/>
                  <a:pt x="174172" y="38990"/>
                  <a:pt x="174172" y="87086"/>
                </a:cubicBezTo>
                <a:cubicBezTo>
                  <a:pt x="174172" y="135182"/>
                  <a:pt x="135182" y="174172"/>
                  <a:pt x="87086" y="174172"/>
                </a:cubicBezTo>
                <a:cubicBezTo>
                  <a:pt x="38990" y="174172"/>
                  <a:pt x="0" y="135182"/>
                  <a:pt x="0" y="87086"/>
                </a:cubicBezTo>
                <a:cubicBezTo>
                  <a:pt x="0" y="38990"/>
                  <a:pt x="38990" y="0"/>
                  <a:pt x="8708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-12560"/>
            <a:ext cx="12192000" cy="6870560"/>
            <a:chOff x="0" y="-12560"/>
            <a:chExt cx="12192000" cy="687056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email"/>
            <a:srcRect l="17918" t="33300" r="16741" b="1119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5" name="矩形 4"/>
            <p:cNvSpPr/>
            <p:nvPr userDrawn="1"/>
          </p:nvSpPr>
          <p:spPr>
            <a:xfrm>
              <a:off x="0" y="-12560"/>
              <a:ext cx="10960292" cy="6870560"/>
            </a:xfrm>
            <a:prstGeom prst="rect">
              <a:avLst/>
            </a:prstGeom>
            <a:gradFill>
              <a:gsLst>
                <a:gs pos="51000">
                  <a:srgbClr val="356EC2">
                    <a:alpha val="50000"/>
                  </a:srgbClr>
                </a:gs>
                <a:gs pos="24000">
                  <a:schemeClr val="accent1">
                    <a:alpha val="0"/>
                  </a:schemeClr>
                </a:gs>
                <a:gs pos="82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2345668"/>
              <a:ext cx="12192000" cy="4512332"/>
            </a:xfrm>
            <a:custGeom>
              <a:avLst/>
              <a:gdLst>
                <a:gd name="connsiteX0" fmla="*/ 0 w 12192000"/>
                <a:gd name="connsiteY0" fmla="*/ 0 h 4512332"/>
                <a:gd name="connsiteX1" fmla="*/ 12192000 w 12192000"/>
                <a:gd name="connsiteY1" fmla="*/ 0 h 4512332"/>
                <a:gd name="connsiteX2" fmla="*/ 12192000 w 12192000"/>
                <a:gd name="connsiteY2" fmla="*/ 4512332 h 4512332"/>
                <a:gd name="connsiteX3" fmla="*/ 0 w 12192000"/>
                <a:gd name="connsiteY3" fmla="*/ 4512332 h 4512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512332">
                  <a:moveTo>
                    <a:pt x="0" y="0"/>
                  </a:moveTo>
                  <a:lnTo>
                    <a:pt x="12192000" y="0"/>
                  </a:lnTo>
                  <a:lnTo>
                    <a:pt x="12192000" y="4512332"/>
                  </a:lnTo>
                  <a:lnTo>
                    <a:pt x="0" y="4512332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 flipH="1">
            <a:off x="0" y="-12560"/>
            <a:ext cx="12192000" cy="6870560"/>
            <a:chOff x="0" y="-12560"/>
            <a:chExt cx="12192000" cy="6870560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2" cstate="email"/>
            <a:srcRect l="9248" t="23463" r="15610" b="1119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5" name="矩形 4"/>
            <p:cNvSpPr/>
            <p:nvPr userDrawn="1"/>
          </p:nvSpPr>
          <p:spPr>
            <a:xfrm>
              <a:off x="0" y="-12560"/>
              <a:ext cx="11131826" cy="6858000"/>
            </a:xfrm>
            <a:prstGeom prst="rect">
              <a:avLst/>
            </a:prstGeom>
            <a:gradFill>
              <a:gsLst>
                <a:gs pos="47000">
                  <a:srgbClr val="356EC2">
                    <a:alpha val="50000"/>
                  </a:srgbClr>
                </a:gs>
                <a:gs pos="24000">
                  <a:schemeClr val="accent1">
                    <a:alpha val="0"/>
                  </a:schemeClr>
                </a:gs>
                <a:gs pos="69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2234918"/>
              <a:ext cx="12192000" cy="4623082"/>
            </a:xfrm>
            <a:custGeom>
              <a:avLst/>
              <a:gdLst>
                <a:gd name="connsiteX0" fmla="*/ 0 w 12192000"/>
                <a:gd name="connsiteY0" fmla="*/ 0 h 4623082"/>
                <a:gd name="connsiteX1" fmla="*/ 12192000 w 12192000"/>
                <a:gd name="connsiteY1" fmla="*/ 0 h 4623082"/>
                <a:gd name="connsiteX2" fmla="*/ 12192000 w 12192000"/>
                <a:gd name="connsiteY2" fmla="*/ 4623082 h 4623082"/>
                <a:gd name="connsiteX3" fmla="*/ 0 w 12192000"/>
                <a:gd name="connsiteY3" fmla="*/ 4623082 h 462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623082">
                  <a:moveTo>
                    <a:pt x="0" y="0"/>
                  </a:moveTo>
                  <a:lnTo>
                    <a:pt x="12192000" y="0"/>
                  </a:lnTo>
                  <a:lnTo>
                    <a:pt x="12192000" y="4623082"/>
                  </a:lnTo>
                  <a:lnTo>
                    <a:pt x="0" y="4623082"/>
                  </a:lnTo>
                  <a:close/>
                </a:path>
              </a:pathLst>
            </a:custGeom>
          </p:spPr>
        </p:pic>
        <p:grpSp>
          <p:nvGrpSpPr>
            <p:cNvPr id="7" name="组合 6"/>
            <p:cNvGrpSpPr/>
            <p:nvPr userDrawn="1"/>
          </p:nvGrpSpPr>
          <p:grpSpPr>
            <a:xfrm flipH="1">
              <a:off x="9139274" y="661909"/>
              <a:ext cx="2381004" cy="86027"/>
              <a:chOff x="660400" y="1044273"/>
              <a:chExt cx="2381004" cy="86027"/>
            </a:xfrm>
            <a:solidFill>
              <a:schemeClr val="accent2"/>
            </a:solidFill>
          </p:grpSpPr>
          <p:sp>
            <p:nvSpPr>
              <p:cNvPr id="10" name="矩形: 圆角 9"/>
              <p:cNvSpPr/>
              <p:nvPr/>
            </p:nvSpPr>
            <p:spPr>
              <a:xfrm>
                <a:off x="660400" y="1044273"/>
                <a:ext cx="376622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5" name="矩形: 圆角 14"/>
              <p:cNvSpPr/>
              <p:nvPr/>
            </p:nvSpPr>
            <p:spPr>
              <a:xfrm>
                <a:off x="1098297" y="1044273"/>
                <a:ext cx="117755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1366787" y="1087286"/>
                <a:ext cx="1674617" cy="0"/>
              </a:xfrm>
              <a:prstGeom prst="line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rcRect l="9248" t="23463" r="2292" b="111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0" y="-12560"/>
            <a:ext cx="11131827" cy="6858000"/>
          </a:xfrm>
          <a:prstGeom prst="rect">
            <a:avLst/>
          </a:prstGeom>
          <a:gradFill>
            <a:gsLst>
              <a:gs pos="51000">
                <a:srgbClr val="356EC2">
                  <a:alpha val="50000"/>
                </a:srgbClr>
              </a:gs>
              <a:gs pos="24000">
                <a:schemeClr val="accent1">
                  <a:alpha val="0"/>
                </a:schemeClr>
              </a:gs>
              <a:gs pos="82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817A7C4-3CFF-4C52-A160-47229E9CDA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1ECBC3B1-AA39-481F-8D96-4D46402C2A1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81002" y="369279"/>
            <a:ext cx="11453447" cy="6476163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1"/>
              </a:gs>
              <a:gs pos="90000">
                <a:schemeClr val="accent1">
                  <a:lumMod val="20000"/>
                  <a:lumOff val="8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>
          <a:xfrm flipH="1">
            <a:off x="0" y="1165830"/>
            <a:ext cx="12192000" cy="5692173"/>
          </a:xfrm>
          <a:custGeom>
            <a:avLst/>
            <a:gdLst>
              <a:gd name="connsiteX0" fmla="*/ 0 w 12192000"/>
              <a:gd name="connsiteY0" fmla="*/ 0 h 5692173"/>
              <a:gd name="connsiteX1" fmla="*/ 12192000 w 12192000"/>
              <a:gd name="connsiteY1" fmla="*/ 0 h 5692173"/>
              <a:gd name="connsiteX2" fmla="*/ 12192000 w 12192000"/>
              <a:gd name="connsiteY2" fmla="*/ 5692173 h 5692173"/>
              <a:gd name="connsiteX3" fmla="*/ 0 w 12192000"/>
              <a:gd name="connsiteY3" fmla="*/ 5692173 h 5692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692173">
                <a:moveTo>
                  <a:pt x="0" y="0"/>
                </a:moveTo>
                <a:lnTo>
                  <a:pt x="12192000" y="0"/>
                </a:lnTo>
                <a:lnTo>
                  <a:pt x="12192000" y="5692173"/>
                </a:lnTo>
                <a:lnTo>
                  <a:pt x="0" y="5692173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12560"/>
            <a:ext cx="12192000" cy="6870560"/>
            <a:chOff x="0" y="-12560"/>
            <a:chExt cx="12192000" cy="6870560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2" cstate="email"/>
            <a:srcRect l="9248" t="23463" r="15610" b="1119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4" name="矩形 3"/>
            <p:cNvSpPr/>
            <p:nvPr userDrawn="1"/>
          </p:nvSpPr>
          <p:spPr>
            <a:xfrm>
              <a:off x="0" y="-12560"/>
              <a:ext cx="11131826" cy="6858000"/>
            </a:xfrm>
            <a:prstGeom prst="rect">
              <a:avLst/>
            </a:prstGeom>
            <a:gradFill>
              <a:gsLst>
                <a:gs pos="51000">
                  <a:srgbClr val="356EC2">
                    <a:alpha val="50000"/>
                  </a:srgbClr>
                </a:gs>
                <a:gs pos="24000">
                  <a:schemeClr val="accent1">
                    <a:alpha val="0"/>
                  </a:schemeClr>
                </a:gs>
                <a:gs pos="82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2234918"/>
              <a:ext cx="12192000" cy="4623082"/>
            </a:xfrm>
            <a:custGeom>
              <a:avLst/>
              <a:gdLst>
                <a:gd name="connsiteX0" fmla="*/ 0 w 12192000"/>
                <a:gd name="connsiteY0" fmla="*/ 0 h 4623082"/>
                <a:gd name="connsiteX1" fmla="*/ 12192000 w 12192000"/>
                <a:gd name="connsiteY1" fmla="*/ 0 h 4623082"/>
                <a:gd name="connsiteX2" fmla="*/ 12192000 w 12192000"/>
                <a:gd name="connsiteY2" fmla="*/ 4623082 h 4623082"/>
                <a:gd name="connsiteX3" fmla="*/ 0 w 12192000"/>
                <a:gd name="connsiteY3" fmla="*/ 4623082 h 462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623082">
                  <a:moveTo>
                    <a:pt x="0" y="0"/>
                  </a:moveTo>
                  <a:lnTo>
                    <a:pt x="12192000" y="0"/>
                  </a:lnTo>
                  <a:lnTo>
                    <a:pt x="12192000" y="4623082"/>
                  </a:lnTo>
                  <a:lnTo>
                    <a:pt x="0" y="4623082"/>
                  </a:lnTo>
                  <a:close/>
                </a:path>
              </a:pathLst>
            </a:custGeom>
          </p:spPr>
        </p:pic>
        <p:grpSp>
          <p:nvGrpSpPr>
            <p:cNvPr id="6" name="组合 5"/>
            <p:cNvGrpSpPr/>
            <p:nvPr userDrawn="1"/>
          </p:nvGrpSpPr>
          <p:grpSpPr>
            <a:xfrm flipH="1">
              <a:off x="9139274" y="661909"/>
              <a:ext cx="2381004" cy="86027"/>
              <a:chOff x="660400" y="1044273"/>
              <a:chExt cx="2381004" cy="86027"/>
            </a:xfrm>
            <a:solidFill>
              <a:schemeClr val="accent2"/>
            </a:solidFill>
          </p:grpSpPr>
          <p:sp>
            <p:nvSpPr>
              <p:cNvPr id="7" name="矩形: 圆角 6"/>
              <p:cNvSpPr/>
              <p:nvPr/>
            </p:nvSpPr>
            <p:spPr>
              <a:xfrm>
                <a:off x="660400" y="1044273"/>
                <a:ext cx="376622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098297" y="1044273"/>
                <a:ext cx="117755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1366787" y="1087286"/>
                <a:ext cx="1674617" cy="0"/>
              </a:xfrm>
              <a:prstGeom prst="line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12560"/>
            <a:ext cx="12192000" cy="6870560"/>
            <a:chOff x="0" y="-12560"/>
            <a:chExt cx="12192000" cy="6870560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2" cstate="email"/>
            <a:srcRect l="9248" t="23463" r="15610" b="1119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4" name="矩形 3"/>
            <p:cNvSpPr/>
            <p:nvPr userDrawn="1"/>
          </p:nvSpPr>
          <p:spPr>
            <a:xfrm>
              <a:off x="0" y="-12560"/>
              <a:ext cx="11131826" cy="6858000"/>
            </a:xfrm>
            <a:prstGeom prst="rect">
              <a:avLst/>
            </a:prstGeom>
            <a:gradFill>
              <a:gsLst>
                <a:gs pos="51000">
                  <a:srgbClr val="356EC2">
                    <a:alpha val="50000"/>
                  </a:srgbClr>
                </a:gs>
                <a:gs pos="24000">
                  <a:schemeClr val="accent1">
                    <a:alpha val="0"/>
                  </a:schemeClr>
                </a:gs>
                <a:gs pos="82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3" cstate="email"/>
            <a:srcRect/>
            <a:stretch>
              <a:fillRect/>
            </a:stretch>
          </p:blipFill>
          <p:spPr>
            <a:xfrm>
              <a:off x="0" y="2234918"/>
              <a:ext cx="12192000" cy="4623082"/>
            </a:xfrm>
            <a:custGeom>
              <a:avLst/>
              <a:gdLst>
                <a:gd name="connsiteX0" fmla="*/ 0 w 12192000"/>
                <a:gd name="connsiteY0" fmla="*/ 0 h 4623082"/>
                <a:gd name="connsiteX1" fmla="*/ 12192000 w 12192000"/>
                <a:gd name="connsiteY1" fmla="*/ 0 h 4623082"/>
                <a:gd name="connsiteX2" fmla="*/ 12192000 w 12192000"/>
                <a:gd name="connsiteY2" fmla="*/ 4623082 h 4623082"/>
                <a:gd name="connsiteX3" fmla="*/ 0 w 12192000"/>
                <a:gd name="connsiteY3" fmla="*/ 4623082 h 462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4623082">
                  <a:moveTo>
                    <a:pt x="0" y="0"/>
                  </a:moveTo>
                  <a:lnTo>
                    <a:pt x="12192000" y="0"/>
                  </a:lnTo>
                  <a:lnTo>
                    <a:pt x="12192000" y="4623082"/>
                  </a:lnTo>
                  <a:lnTo>
                    <a:pt x="0" y="4623082"/>
                  </a:lnTo>
                  <a:close/>
                </a:path>
              </a:pathLst>
            </a:custGeom>
          </p:spPr>
        </p:pic>
        <p:grpSp>
          <p:nvGrpSpPr>
            <p:cNvPr id="6" name="组合 5"/>
            <p:cNvGrpSpPr/>
            <p:nvPr userDrawn="1"/>
          </p:nvGrpSpPr>
          <p:grpSpPr>
            <a:xfrm flipH="1">
              <a:off x="9139274" y="661909"/>
              <a:ext cx="2381004" cy="86027"/>
              <a:chOff x="660400" y="1044273"/>
              <a:chExt cx="2381004" cy="86027"/>
            </a:xfrm>
            <a:solidFill>
              <a:schemeClr val="accent2"/>
            </a:solidFill>
          </p:grpSpPr>
          <p:sp>
            <p:nvSpPr>
              <p:cNvPr id="7" name="矩形: 圆角 6"/>
              <p:cNvSpPr/>
              <p:nvPr/>
            </p:nvSpPr>
            <p:spPr>
              <a:xfrm>
                <a:off x="660400" y="1044273"/>
                <a:ext cx="376622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098297" y="1044273"/>
                <a:ext cx="117755" cy="86027"/>
              </a:xfrm>
              <a:prstGeom prst="roundRect">
                <a:avLst>
                  <a:gd name="adj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1366787" y="1087286"/>
                <a:ext cx="1674617" cy="0"/>
              </a:xfrm>
              <a:prstGeom prst="line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latin typeface="微软雅黑" panose="020B0503020204020204" charset="-122"/>
                <a:ea typeface="微软雅黑" panose="020B0503020204020204" charset="-122"/>
                <a:hlinkClick r:id="rId4"/>
              </a:rPr>
              <a:t>行业</a:t>
            </a:r>
            <a:r>
              <a:rPr lang="en-US" altLang="zh-CN" sz="100" dirty="0">
                <a:latin typeface="微软雅黑" panose="020B0503020204020204" charset="-122"/>
                <a:ea typeface="微软雅黑" panose="020B0503020204020204" charset="-122"/>
                <a:hlinkClick r:id="rId4"/>
              </a:rPr>
              <a:t>PPT</a:t>
            </a:r>
            <a:r>
              <a:rPr lang="zh-CN" altLang="en-US" sz="100" dirty="0">
                <a:latin typeface="微软雅黑" panose="020B0503020204020204" charset="-122"/>
                <a:ea typeface="微软雅黑" panose="020B0503020204020204" charset="-122"/>
                <a:hlinkClick r:id="rId4"/>
              </a:rPr>
              <a:t>模板</a:t>
            </a:r>
            <a:r>
              <a:rPr lang="en-US" altLang="zh-CN" sz="100" dirty="0"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  <a:endParaRPr lang="en-US" altLang="zh-CN" sz="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A7C4-3CFF-4C52-A160-47229E9CDA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BC3B1-AA39-481F-8D96-4D46402C2A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7A7C4-3CFF-4C52-A160-47229E9CDA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BC3B1-AA39-481F-8D96-4D46402C2A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tags" Target="../tags/tag32.xml"/><Relationship Id="rId11" Type="http://schemas.openxmlformats.org/officeDocument/2006/relationships/tags" Target="../tags/tag33.xml"/><Relationship Id="rId12" Type="http://schemas.openxmlformats.org/officeDocument/2006/relationships/tags" Target="../tags/tag34.xml"/><Relationship Id="rId13" Type="http://schemas.openxmlformats.org/officeDocument/2006/relationships/tags" Target="../tags/tag35.xml"/><Relationship Id="rId14" Type="http://schemas.openxmlformats.org/officeDocument/2006/relationships/tags" Target="../tags/tag36.xml"/><Relationship Id="rId15" Type="http://schemas.openxmlformats.org/officeDocument/2006/relationships/tags" Target="../tags/tag37.xml"/><Relationship Id="rId16" Type="http://schemas.openxmlformats.org/officeDocument/2006/relationships/tags" Target="../tags/tag38.xml"/><Relationship Id="rId17" Type="http://schemas.openxmlformats.org/officeDocument/2006/relationships/tags" Target="../tags/tag39.xml"/><Relationship Id="rId18" Type="http://schemas.openxmlformats.org/officeDocument/2006/relationships/tags" Target="../tags/tag40.xml"/><Relationship Id="rId19" Type="http://schemas.openxmlformats.org/officeDocument/2006/relationships/tags" Target="../tags/tag41.xml"/><Relationship Id="rId20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Relationship Id="rId7" Type="http://schemas.openxmlformats.org/officeDocument/2006/relationships/tags" Target="../tags/tag48.xml"/><Relationship Id="rId8" Type="http://schemas.openxmlformats.org/officeDocument/2006/relationships/tags" Target="../tags/tag49.xml"/><Relationship Id="rId9" Type="http://schemas.openxmlformats.org/officeDocument/2006/relationships/tags" Target="../tags/tag50.xml"/><Relationship Id="rId10" Type="http://schemas.openxmlformats.org/officeDocument/2006/relationships/tags" Target="../tags/tag51.xml"/><Relationship Id="rId11" Type="http://schemas.openxmlformats.org/officeDocument/2006/relationships/tags" Target="../tags/tag52.xml"/><Relationship Id="rId12" Type="http://schemas.openxmlformats.org/officeDocument/2006/relationships/tags" Target="../tags/tag53.xml"/><Relationship Id="rId13" Type="http://schemas.openxmlformats.org/officeDocument/2006/relationships/tags" Target="../tags/tag54.xml"/><Relationship Id="rId14" Type="http://schemas.openxmlformats.org/officeDocument/2006/relationships/tags" Target="../tags/tag55.xml"/><Relationship Id="rId15" Type="http://schemas.openxmlformats.org/officeDocument/2006/relationships/tags" Target="../tags/tag56.xml"/><Relationship Id="rId16" Type="http://schemas.openxmlformats.org/officeDocument/2006/relationships/tags" Target="../tags/tag57.xml"/><Relationship Id="rId17" Type="http://schemas.openxmlformats.org/officeDocument/2006/relationships/tags" Target="../tags/tag58.xml"/><Relationship Id="rId18" Type="http://schemas.openxmlformats.org/officeDocument/2006/relationships/tags" Target="../tags/tag59.xml"/><Relationship Id="rId19" Type="http://schemas.openxmlformats.org/officeDocument/2006/relationships/tags" Target="../tags/tag60.xml"/><Relationship Id="rId20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tags" Target="../tags/tag82.xml"/><Relationship Id="rId8" Type="http://schemas.openxmlformats.org/officeDocument/2006/relationships/tags" Target="../tags/tag83.xml"/><Relationship Id="rId9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tags" Target="../tags/tag85.xml"/><Relationship Id="rId3" Type="http://schemas.openxmlformats.org/officeDocument/2006/relationships/tags" Target="../tags/tag86.xml"/><Relationship Id="rId4" Type="http://schemas.openxmlformats.org/officeDocument/2006/relationships/tags" Target="../tags/tag87.xml"/><Relationship Id="rId5" Type="http://schemas.openxmlformats.org/officeDocument/2006/relationships/tags" Target="../tags/tag88.xml"/><Relationship Id="rId6" Type="http://schemas.openxmlformats.org/officeDocument/2006/relationships/tags" Target="../tags/tag89.xml"/><Relationship Id="rId7" Type="http://schemas.openxmlformats.org/officeDocument/2006/relationships/tags" Target="../tags/tag90.xml"/><Relationship Id="rId8" Type="http://schemas.openxmlformats.org/officeDocument/2006/relationships/tags" Target="../tags/tag91.xml"/><Relationship Id="rId9" Type="http://schemas.openxmlformats.org/officeDocument/2006/relationships/tags" Target="../tags/tag92.xml"/><Relationship Id="rId10" Type="http://schemas.openxmlformats.org/officeDocument/2006/relationships/tags" Target="../tags/tag93.xml"/><Relationship Id="rId11" Type="http://schemas.openxmlformats.org/officeDocument/2006/relationships/tags" Target="../tags/tag94.xml"/><Relationship Id="rId12" Type="http://schemas.openxmlformats.org/officeDocument/2006/relationships/tags" Target="../tags/tag95.xml"/><Relationship Id="rId13" Type="http://schemas.openxmlformats.org/officeDocument/2006/relationships/tags" Target="../tags/tag96.xml"/><Relationship Id="rId14" Type="http://schemas.openxmlformats.org/officeDocument/2006/relationships/tags" Target="../tags/tag97.xml"/><Relationship Id="rId15" Type="http://schemas.openxmlformats.org/officeDocument/2006/relationships/tags" Target="../tags/tag98.xml"/><Relationship Id="rId16" Type="http://schemas.openxmlformats.org/officeDocument/2006/relationships/tags" Target="../tags/tag99.xml"/><Relationship Id="rId17" Type="http://schemas.openxmlformats.org/officeDocument/2006/relationships/tags" Target="../tags/tag100.xml"/><Relationship Id="rId18" Type="http://schemas.openxmlformats.org/officeDocument/2006/relationships/tags" Target="../tags/tag101.xml"/><Relationship Id="rId19" Type="http://schemas.openxmlformats.org/officeDocument/2006/relationships/tags" Target="../tags/tag102.xml"/><Relationship Id="rId20" Type="http://schemas.openxmlformats.org/officeDocument/2006/relationships/tags" Target="../tags/tag103.xml"/><Relationship Id="rId21" Type="http://schemas.openxmlformats.org/officeDocument/2006/relationships/tags" Target="../tags/tag104.xml"/><Relationship Id="rId22" Type="http://schemas.openxmlformats.org/officeDocument/2006/relationships/tags" Target="../tags/tag105.xml"/><Relationship Id="rId23" Type="http://schemas.openxmlformats.org/officeDocument/2006/relationships/tags" Target="../tags/tag106.xml"/><Relationship Id="rId24" Type="http://schemas.openxmlformats.org/officeDocument/2006/relationships/tags" Target="../tags/tag107.xml"/><Relationship Id="rId25" Type="http://schemas.openxmlformats.org/officeDocument/2006/relationships/tags" Target="../tags/tag108.xml"/><Relationship Id="rId26" Type="http://schemas.openxmlformats.org/officeDocument/2006/relationships/tags" Target="../tags/tag109.xml"/><Relationship Id="rId27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Relationship Id="rId9" Type="http://schemas.openxmlformats.org/officeDocument/2006/relationships/tags" Target="../tags/tag118.xml"/><Relationship Id="rId10" Type="http://schemas.openxmlformats.org/officeDocument/2006/relationships/tags" Target="../tags/tag119.xml"/><Relationship Id="rId11" Type="http://schemas.openxmlformats.org/officeDocument/2006/relationships/tags" Target="../tags/tag120.xml"/><Relationship Id="rId12" Type="http://schemas.openxmlformats.org/officeDocument/2006/relationships/tags" Target="../tags/tag121.xml"/><Relationship Id="rId13" Type="http://schemas.openxmlformats.org/officeDocument/2006/relationships/tags" Target="../tags/tag122.xml"/><Relationship Id="rId14" Type="http://schemas.openxmlformats.org/officeDocument/2006/relationships/tags" Target="../tags/tag123.xml"/><Relationship Id="rId15" Type="http://schemas.openxmlformats.org/officeDocument/2006/relationships/tags" Target="../tags/tag124.xml"/><Relationship Id="rId16" Type="http://schemas.openxmlformats.org/officeDocument/2006/relationships/tags" Target="../tags/tag125.xml"/><Relationship Id="rId17" Type="http://schemas.openxmlformats.org/officeDocument/2006/relationships/tags" Target="../tags/tag126.xml"/><Relationship Id="rId18" Type="http://schemas.openxmlformats.org/officeDocument/2006/relationships/tags" Target="../tags/tag127.xml"/><Relationship Id="rId19" Type="http://schemas.openxmlformats.org/officeDocument/2006/relationships/tags" Target="../tags/tag128.xml"/><Relationship Id="rId20" Type="http://schemas.openxmlformats.org/officeDocument/2006/relationships/tags" Target="../tags/tag129.xml"/><Relationship Id="rId2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394970" y="4305300"/>
            <a:ext cx="6701790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宋体" panose="02010600030101010101" pitchFamily="2" charset="-122"/>
                <a:cs typeface="+mn-ea"/>
                <a:sym typeface="+mn-ea"/>
              </a:rPr>
              <a:t>集全域巡检、智能预警检测、实时感知于一体的天地</a:t>
            </a:r>
            <a:r>
              <a:rPr lang="zh-CN" altLang="en-US" sz="2000" b="1">
                <a:solidFill>
                  <a:srgbClr val="FFFFFF"/>
                </a:solidFill>
                <a:latin typeface="宋体" panose="02010600030101010101" pitchFamily="2" charset="-122"/>
                <a:cs typeface="+mn-ea"/>
                <a:sym typeface="+mn-ea"/>
              </a:rPr>
              <a:t>系统</a:t>
            </a:r>
            <a:endParaRPr lang="zh-CN" altLang="en-US" sz="2000" b="1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60400" y="5203825"/>
            <a:ext cx="6436360" cy="3746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负责人：[团队名称]    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 </a:t>
            </a:r>
            <a:r>
              <a:rPr lang="zh-CN" altLang="en-US" sz="1600" dirty="0" smtClean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   </a:t>
            </a:r>
            <a:endParaRPr lang="zh-CN" altLang="en-US" sz="16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0" y="3640463"/>
            <a:ext cx="8459470" cy="479425"/>
            <a:chOff x="0" y="3601047"/>
            <a:chExt cx="8103125" cy="812505"/>
          </a:xfrm>
        </p:grpSpPr>
        <p:sp>
          <p:nvSpPr>
            <p:cNvPr id="18" name="矩形 17"/>
            <p:cNvSpPr/>
            <p:nvPr/>
          </p:nvSpPr>
          <p:spPr>
            <a:xfrm>
              <a:off x="0" y="3743101"/>
              <a:ext cx="8103125" cy="665070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3"/>
            <p:cNvSpPr txBox="1">
              <a:spLocks noChangeArrowheads="1"/>
            </p:cNvSpPr>
            <p:nvPr/>
          </p:nvSpPr>
          <p:spPr bwMode="auto">
            <a:xfrm>
              <a:off x="502188" y="3601047"/>
              <a:ext cx="6363267" cy="812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30000"/>
                </a:lnSpc>
                <a:defRPr/>
              </a:pPr>
              <a:r>
                <a:rPr lang="zh-CN" altLang="en-US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基于</a:t>
              </a:r>
              <a:r>
                <a:rPr lang="en-US" altLang="zh-CN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CS171</a:t>
              </a:r>
              <a:r>
                <a:rPr lang="zh-CN" altLang="en-US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的多功能集成无人机、无人狗协同</a:t>
              </a:r>
              <a:r>
                <a:rPr lang="zh-CN" altLang="en-US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安防</a:t>
              </a:r>
              <a:endParaRPr lang="zh-CN" altLang="en-US" sz="2400" b="1">
                <a:ln w="14783" cmpd="sng">
                  <a:solidFill>
                    <a:srgbClr val="FBF8C5"/>
                  </a:solidFill>
                  <a:prstDash val="solid"/>
                  <a:bevel/>
                </a:ln>
                <a:solidFill>
                  <a:schemeClr val="bg1"/>
                </a:solidFill>
                <a:effectLst>
                  <a:outerShdw blurRad="31770" dist="38100" dir="5400000" sy="-20000" rotWithShape="0">
                    <a:srgbClr val="323163">
                      <a:alpha val="20000"/>
                    </a:srgbClr>
                  </a:outerShdw>
                </a:effectLst>
                <a:latin typeface="汉仪程行简" panose="00020600040101010101" charset="-122"/>
                <a:ea typeface="汉仪程行简" panose="00020600040101010101" charset="-122"/>
                <a:sym typeface="汉仪铸字木头人简" panose="00020600040101010101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120775" y="1076325"/>
            <a:ext cx="4949190" cy="158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800"/>
              <a:t>空地协同</a:t>
            </a:r>
            <a:endParaRPr lang="zh-CN" altLang="en-US" sz="8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0" y="215326"/>
            <a:ext cx="1992480" cy="2236024"/>
            <a:chOff x="1355413" y="1605319"/>
            <a:chExt cx="2227678" cy="2499968"/>
          </a:xfrm>
        </p:grpSpPr>
        <p:sp>
          <p:nvSpPr>
            <p:cNvPr id="60" name="椭圆 59"/>
            <p:cNvSpPr/>
            <p:nvPr/>
          </p:nvSpPr>
          <p:spPr>
            <a:xfrm>
              <a:off x="1355413" y="1628898"/>
              <a:ext cx="1112070" cy="2476389"/>
            </a:xfrm>
            <a:prstGeom prst="ellipse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9600" dirty="0">
                <a:gradFill>
                  <a:gsLst>
                    <a:gs pos="0">
                      <a:schemeClr val="bg1"/>
                    </a:gs>
                    <a:gs pos="54000">
                      <a:schemeClr val="bg1"/>
                    </a:gs>
                    <a:gs pos="8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2471021" y="1605319"/>
              <a:ext cx="1112070" cy="2476389"/>
            </a:xfrm>
            <a:prstGeom prst="ellipse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9600" dirty="0">
                <a:gradFill>
                  <a:gsLst>
                    <a:gs pos="0">
                      <a:schemeClr val="bg1"/>
                    </a:gs>
                    <a:gs pos="54000">
                      <a:schemeClr val="bg1"/>
                    </a:gs>
                    <a:gs pos="8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721996" y="2523001"/>
            <a:ext cx="10735945" cy="3520571"/>
            <a:chOff x="721995" y="2568175"/>
            <a:chExt cx="10735945" cy="3520571"/>
          </a:xfrm>
        </p:grpSpPr>
        <p:grpSp>
          <p:nvGrpSpPr>
            <p:cNvPr id="16" name="组合 15"/>
            <p:cNvGrpSpPr/>
            <p:nvPr/>
          </p:nvGrpSpPr>
          <p:grpSpPr>
            <a:xfrm>
              <a:off x="721995" y="2568175"/>
              <a:ext cx="10735945" cy="3520571"/>
              <a:chOff x="721995" y="1849715"/>
              <a:chExt cx="10735945" cy="3520571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721995" y="1849715"/>
                <a:ext cx="2073730" cy="3520571"/>
                <a:chOff x="721995" y="1849715"/>
                <a:chExt cx="2073730" cy="3520571"/>
              </a:xfrm>
            </p:grpSpPr>
            <p:sp>
              <p:nvSpPr>
                <p:cNvPr id="80" name="ComponentBackground1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721995" y="2217057"/>
                  <a:ext cx="2073730" cy="3153229"/>
                </a:xfrm>
                <a:prstGeom prst="roundRect">
                  <a:avLst>
                    <a:gd name="adj" fmla="val 8000"/>
                  </a:avLst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85000">
                      <a:srgbClr val="FFFFFF">
                        <a:alpha val="50000"/>
                      </a:srgbClr>
                    </a:gs>
                    <a:gs pos="54000">
                      <a:schemeClr val="bg1">
                        <a:alpha val="9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Shape1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328594" y="1849715"/>
                  <a:ext cx="747856" cy="74785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IconBackground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389019" y="1908811"/>
                  <a:ext cx="616494" cy="616492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2856592" y="1849715"/>
                <a:ext cx="2073730" cy="3520571"/>
                <a:chOff x="2856592" y="1849715"/>
                <a:chExt cx="2073730" cy="3520571"/>
              </a:xfrm>
            </p:grpSpPr>
            <p:sp>
              <p:nvSpPr>
                <p:cNvPr id="77" name="ComponentBackground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856592" y="2217057"/>
                  <a:ext cx="2073730" cy="3153229"/>
                </a:xfrm>
                <a:prstGeom prst="roundRect">
                  <a:avLst>
                    <a:gd name="adj" fmla="val 8000"/>
                  </a:avLst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85000">
                      <a:srgbClr val="FFFFFF">
                        <a:alpha val="50000"/>
                      </a:srgbClr>
                    </a:gs>
                    <a:gs pos="54000">
                      <a:schemeClr val="bg1">
                        <a:alpha val="9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Shape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515078" y="1849715"/>
                  <a:ext cx="747856" cy="74785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IconBackground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585210" y="1908811"/>
                  <a:ext cx="616494" cy="616492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052784" y="1849715"/>
                <a:ext cx="2073730" cy="3520571"/>
                <a:chOff x="5052784" y="1849715"/>
                <a:chExt cx="2073730" cy="3520571"/>
              </a:xfrm>
            </p:grpSpPr>
            <p:sp>
              <p:nvSpPr>
                <p:cNvPr id="74" name="ComponentBackground3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052784" y="2217057"/>
                  <a:ext cx="2073730" cy="3153229"/>
                </a:xfrm>
                <a:prstGeom prst="roundRect">
                  <a:avLst>
                    <a:gd name="adj" fmla="val 8000"/>
                  </a:avLst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85000">
                      <a:srgbClr val="FFFFFF">
                        <a:alpha val="50000"/>
                      </a:srgbClr>
                    </a:gs>
                    <a:gs pos="54000">
                      <a:schemeClr val="bg1">
                        <a:alpha val="9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Shape3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715721" y="1849715"/>
                  <a:ext cx="747856" cy="747856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IconBackground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781401" y="1908811"/>
                  <a:ext cx="616494" cy="616492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7248976" y="1849715"/>
                <a:ext cx="2073730" cy="3520571"/>
                <a:chOff x="7248976" y="1849715"/>
                <a:chExt cx="2073730" cy="3520571"/>
              </a:xfrm>
            </p:grpSpPr>
            <p:sp>
              <p:nvSpPr>
                <p:cNvPr id="59" name="ComponentBackground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7248976" y="2217057"/>
                  <a:ext cx="2073730" cy="3153229"/>
                </a:xfrm>
                <a:prstGeom prst="roundRect">
                  <a:avLst>
                    <a:gd name="adj" fmla="val 8000"/>
                  </a:avLst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85000">
                      <a:srgbClr val="FFFFFF">
                        <a:alpha val="50000"/>
                      </a:srgbClr>
                    </a:gs>
                    <a:gs pos="54000">
                      <a:schemeClr val="bg1">
                        <a:alpha val="9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Shape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911913" y="1849715"/>
                  <a:ext cx="747856" cy="747856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IconBackground4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7977594" y="1908811"/>
                  <a:ext cx="616494" cy="616492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9384210" y="1849715"/>
                <a:ext cx="2073730" cy="3520571"/>
                <a:chOff x="9384210" y="1849715"/>
                <a:chExt cx="2073730" cy="3520571"/>
              </a:xfrm>
            </p:grpSpPr>
            <p:sp>
              <p:nvSpPr>
                <p:cNvPr id="38" name="ComponentBackground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384210" y="2217057"/>
                  <a:ext cx="2073730" cy="3153229"/>
                </a:xfrm>
                <a:prstGeom prst="roundRect">
                  <a:avLst>
                    <a:gd name="adj" fmla="val 8000"/>
                  </a:avLst>
                </a:pr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85000">
                      <a:srgbClr val="FFFFFF">
                        <a:alpha val="50000"/>
                      </a:srgbClr>
                    </a:gs>
                    <a:gs pos="54000">
                      <a:schemeClr val="bg1">
                        <a:alpha val="9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Shape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108105" y="1849715"/>
                  <a:ext cx="747856" cy="747856"/>
                </a:xfrm>
                <a:prstGeom prst="ellips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IconBackground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0173789" y="1908811"/>
                  <a:ext cx="616494" cy="616492"/>
                </a:xfrm>
                <a:prstGeom prst="ellipse">
                  <a:avLst/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843923" y="3603184"/>
              <a:ext cx="1781610" cy="1504956"/>
              <a:chOff x="843923" y="3603184"/>
              <a:chExt cx="1781610" cy="1504956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918954" y="3603184"/>
                <a:ext cx="1706579" cy="45076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3923" y="4200936"/>
                <a:ext cx="1681381" cy="9072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项目背景</a:t>
                </a:r>
                <a:endPara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3048315" y="4200936"/>
              <a:ext cx="1728905" cy="907204"/>
              <a:chOff x="843923" y="4200936"/>
              <a:chExt cx="1728905" cy="907204"/>
            </a:xfrm>
          </p:grpSpPr>
          <p:sp>
            <p:nvSpPr>
              <p:cNvPr id="28" name="矩形 27"/>
              <p:cNvSpPr/>
              <p:nvPr>
                <p:custDataLst>
                  <p:tags r:id="rId18"/>
                </p:custDataLst>
              </p:nvPr>
            </p:nvSpPr>
            <p:spPr>
              <a:xfrm>
                <a:off x="866249" y="4348674"/>
                <a:ext cx="1706579" cy="45076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存在</a:t>
                </a:r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问题</a:t>
                </a:r>
                <a:endPara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843923" y="4200936"/>
                <a:ext cx="1681381" cy="9072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endPara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26" name="矩形 25"/>
            <p:cNvSpPr/>
            <p:nvPr/>
          </p:nvSpPr>
          <p:spPr>
            <a:xfrm>
              <a:off x="5238750" y="4099795"/>
              <a:ext cx="1671320" cy="106807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9"/>
              </p:custDataLst>
            </p:nvPr>
          </p:nvSpPr>
          <p:spPr>
            <a:xfrm>
              <a:off x="7419851" y="4348674"/>
              <a:ext cx="1706579" cy="450767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核心技术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9636889" y="4200936"/>
              <a:ext cx="1681381" cy="907204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20"/>
            </p:custDataLst>
          </p:nvPr>
        </p:nvSpPr>
        <p:spPr>
          <a:xfrm>
            <a:off x="5252085" y="4348480"/>
            <a:ext cx="1622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实现功能</a:t>
            </a:r>
            <a:endParaRPr lang="zh-CN" altLang="en-US" sz="2800"/>
          </a:p>
        </p:txBody>
      </p:sp>
    </p:spTree>
  </p:cSld>
  <p:clrMapOvr>
    <a:masterClrMapping/>
  </p:clrMapOvr>
  <p:transition spd="slow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项目</a:t>
              </a:r>
              <a:r>
                <a:rPr lang="zh-CN" altLang="en-US" dirty="0">
                  <a:sym typeface="+mn-lt"/>
                </a:rPr>
                <a:t>背景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055075" y="3482546"/>
            <a:ext cx="3944780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6665" y="1598295"/>
            <a:ext cx="4184015" cy="3201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 algn="just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随着城市化进程加快和基础设施规模不断扩大，传统的地面巡检与管理模式已难以满足现代化、智能化、高效化的管理需求。尤其是在交通、安防、环保、能源等领域，存在着覆盖范围广、环境复杂、响应时效要求高等挑战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同侧圆角矩形 21"/>
          <p:cNvSpPr/>
          <p:nvPr>
            <p:custDataLst>
              <p:tags r:id="rId1"/>
            </p:custDataLst>
          </p:nvPr>
        </p:nvSpPr>
        <p:spPr>
          <a:xfrm rot="16200000">
            <a:off x="6141085" y="808990"/>
            <a:ext cx="4733925" cy="5824220"/>
          </a:xfrm>
          <a:prstGeom prst="round2SameRect">
            <a:avLst>
              <a:gd name="adj1" fmla="val 8449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5800725" y="1598295"/>
            <a:ext cx="5336540" cy="413766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天地协同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系统应运而生，旨在通过整合卫星遥感、无人机、地面传感器、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识别、大数据分析等先进技术，构建一个集全域巡检、智能预警、实时感知、协同响应于一体的智能化管理平台。该系统通过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天基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（卫星、无人机）与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地基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（地面传感器、视频监控）的深度融合，实现对目标区域的全天候、全方位、多维度监控与管理，提升整体运营效率与应急响应能力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2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市场痛点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1132205" y="1332230"/>
            <a:ext cx="2459990" cy="1841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08430" y="1578610"/>
            <a:ext cx="2303780" cy="1243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传统巡检方式效率低下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1132205" y="2826385"/>
            <a:ext cx="2459990" cy="184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1131570" y="4323080"/>
            <a:ext cx="2434590" cy="19723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线连接符 9"/>
          <p:cNvCxnSpPr/>
          <p:nvPr>
            <p:custDataLst>
              <p:tags r:id="rId5"/>
            </p:custDataLst>
          </p:nvPr>
        </p:nvCxnSpPr>
        <p:spPr>
          <a:xfrm>
            <a:off x="4087606" y="2299849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5533858" y="2242699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线连接符 12"/>
          <p:cNvCxnSpPr/>
          <p:nvPr>
            <p:custDataLst>
              <p:tags r:id="rId7"/>
            </p:custDataLst>
          </p:nvPr>
        </p:nvCxnSpPr>
        <p:spPr>
          <a:xfrm>
            <a:off x="4087606" y="3807950"/>
            <a:ext cx="144625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5533858" y="37508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线连接符 15"/>
          <p:cNvCxnSpPr/>
          <p:nvPr>
            <p:custDataLst>
              <p:tags r:id="rId9"/>
            </p:custDataLst>
          </p:nvPr>
        </p:nvCxnSpPr>
        <p:spPr>
          <a:xfrm>
            <a:off x="4087606" y="5323586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533858" y="5266436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形状 18"/>
          <p:cNvSpPr/>
          <p:nvPr>
            <p:custDataLst>
              <p:tags r:id="rId11"/>
            </p:custDataLst>
          </p:nvPr>
        </p:nvSpPr>
        <p:spPr>
          <a:xfrm>
            <a:off x="6096000" y="1730309"/>
            <a:ext cx="4793165" cy="1023488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6823710" y="1786255"/>
            <a:ext cx="3938905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依赖人工巡检，效率低、盲区多，难以实现对广阔区域的全域覆盖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" name="任意形状 22"/>
          <p:cNvSpPr/>
          <p:nvPr>
            <p:custDataLst>
              <p:tags r:id="rId13"/>
            </p:custDataLst>
          </p:nvPr>
        </p:nvSpPr>
        <p:spPr>
          <a:xfrm>
            <a:off x="6096000" y="3263843"/>
            <a:ext cx="4793165" cy="1023488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6589395" y="3328035"/>
            <a:ext cx="421767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天基与地基系统独立运行，数据难以互通，缺乏统一指挥与协同机制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8" name="任意形状 26"/>
          <p:cNvSpPr/>
          <p:nvPr>
            <p:custDataLst>
              <p:tags r:id="rId15"/>
            </p:custDataLst>
          </p:nvPr>
        </p:nvSpPr>
        <p:spPr>
          <a:xfrm>
            <a:off x="6096000" y="4792792"/>
            <a:ext cx="4793165" cy="1023488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6475730" y="4900295"/>
            <a:ext cx="428688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发现问题依赖人工上报，处理流程长，无法实现事前预警与快速响应。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7"/>
            </p:custDataLst>
          </p:nvPr>
        </p:nvSpPr>
        <p:spPr>
          <a:xfrm>
            <a:off x="1409700" y="2967355"/>
            <a:ext cx="2115820" cy="1210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信息孤岛现象严重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8"/>
            </p:custDataLst>
          </p:nvPr>
        </p:nvSpPr>
        <p:spPr>
          <a:xfrm>
            <a:off x="1410335" y="4513580"/>
            <a:ext cx="2115185" cy="158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响应滞后，预警能力弱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9"/>
            </p:custDataLst>
          </p:nvPr>
        </p:nvSpPr>
        <p:spPr>
          <a:xfrm>
            <a:off x="5533716" y="701192"/>
            <a:ext cx="150625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痛点分析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创新性分析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1750806" y="1332043"/>
            <a:ext cx="1841500" cy="1841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901825" y="1824990"/>
            <a:ext cx="1623695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技术融合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1750806" y="2826461"/>
            <a:ext cx="1841500" cy="184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1750695" y="4323080"/>
            <a:ext cx="2000250" cy="19723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线连接符 9"/>
          <p:cNvCxnSpPr/>
          <p:nvPr>
            <p:custDataLst>
              <p:tags r:id="rId5"/>
            </p:custDataLst>
          </p:nvPr>
        </p:nvCxnSpPr>
        <p:spPr>
          <a:xfrm>
            <a:off x="4087606" y="2299849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5533858" y="2242699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线连接符 12"/>
          <p:cNvCxnSpPr/>
          <p:nvPr>
            <p:custDataLst>
              <p:tags r:id="rId7"/>
            </p:custDataLst>
          </p:nvPr>
        </p:nvCxnSpPr>
        <p:spPr>
          <a:xfrm>
            <a:off x="4087606" y="3807950"/>
            <a:ext cx="144625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5533858" y="37508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线连接符 15"/>
          <p:cNvCxnSpPr/>
          <p:nvPr>
            <p:custDataLst>
              <p:tags r:id="rId9"/>
            </p:custDataLst>
          </p:nvPr>
        </p:nvCxnSpPr>
        <p:spPr>
          <a:xfrm>
            <a:off x="4087606" y="5323586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533858" y="5266436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形状 18"/>
          <p:cNvSpPr/>
          <p:nvPr>
            <p:custDataLst>
              <p:tags r:id="rId11"/>
            </p:custDataLst>
          </p:nvPr>
        </p:nvSpPr>
        <p:spPr>
          <a:xfrm>
            <a:off x="6096000" y="1730375"/>
            <a:ext cx="4792980" cy="1311910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6823710" y="1786255"/>
            <a:ext cx="3938905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整合卫星遥感、无人机、地面传感器、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识别、大数据分析，实现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天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-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地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”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一体化协同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" name="任意形状 22"/>
          <p:cNvSpPr/>
          <p:nvPr>
            <p:custDataLst>
              <p:tags r:id="rId13"/>
            </p:custDataLst>
          </p:nvPr>
        </p:nvSpPr>
        <p:spPr>
          <a:xfrm>
            <a:off x="6096000" y="3263843"/>
            <a:ext cx="4793165" cy="1023488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6589395" y="3328035"/>
            <a:ext cx="421767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基于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与模式识别，实现事前预警，从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被动响应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”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转向</a:t>
            </a:r>
            <a:r>
              <a:rPr kumimoji="1"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“</a:t>
            </a:r>
            <a:r>
              <a:rPr kumimoji="1"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主动防控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8" name="任意形状 26"/>
          <p:cNvSpPr/>
          <p:nvPr>
            <p:custDataLst>
              <p:tags r:id="rId15"/>
            </p:custDataLst>
          </p:nvPr>
        </p:nvSpPr>
        <p:spPr>
          <a:xfrm>
            <a:off x="6096000" y="4792792"/>
            <a:ext cx="4793165" cy="1023488"/>
          </a:xfrm>
          <a:custGeom>
            <a:avLst/>
            <a:gdLst>
              <a:gd name="connsiteX0" fmla="*/ 0 w 4793165"/>
              <a:gd name="connsiteY0" fmla="*/ 0 h 1023488"/>
              <a:gd name="connsiteX1" fmla="*/ 535569 w 4793165"/>
              <a:gd name="connsiteY1" fmla="*/ 0 h 1023488"/>
              <a:gd name="connsiteX2" fmla="*/ 535569 w 4793165"/>
              <a:gd name="connsiteY2" fmla="*/ 1292 h 1023488"/>
              <a:gd name="connsiteX3" fmla="*/ 4699000 w 4793165"/>
              <a:gd name="connsiteY3" fmla="*/ 1292 h 1023488"/>
              <a:gd name="connsiteX4" fmla="*/ 4793165 w 4793165"/>
              <a:gd name="connsiteY4" fmla="*/ 95457 h 1023488"/>
              <a:gd name="connsiteX5" fmla="*/ 4793165 w 4793165"/>
              <a:gd name="connsiteY5" fmla="*/ 929323 h 1023488"/>
              <a:gd name="connsiteX6" fmla="*/ 4699000 w 4793165"/>
              <a:gd name="connsiteY6" fmla="*/ 1023488 h 1023488"/>
              <a:gd name="connsiteX7" fmla="*/ 416930 w 4793165"/>
              <a:gd name="connsiteY7" fmla="*/ 1023488 h 1023488"/>
              <a:gd name="connsiteX8" fmla="*/ 322765 w 4793165"/>
              <a:gd name="connsiteY8" fmla="*/ 929323 h 1023488"/>
              <a:gd name="connsiteX9" fmla="*/ 322765 w 4793165"/>
              <a:gd name="connsiteY9" fmla="*/ 222582 h 102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3165" h="1023488">
                <a:moveTo>
                  <a:pt x="0" y="0"/>
                </a:moveTo>
                <a:lnTo>
                  <a:pt x="535569" y="0"/>
                </a:lnTo>
                <a:lnTo>
                  <a:pt x="535569" y="1292"/>
                </a:lnTo>
                <a:lnTo>
                  <a:pt x="4699000" y="1292"/>
                </a:lnTo>
                <a:cubicBezTo>
                  <a:pt x="4751006" y="1292"/>
                  <a:pt x="4793165" y="43451"/>
                  <a:pt x="4793165" y="95457"/>
                </a:cubicBezTo>
                <a:lnTo>
                  <a:pt x="4793165" y="929323"/>
                </a:lnTo>
                <a:cubicBezTo>
                  <a:pt x="4793165" y="981329"/>
                  <a:pt x="4751006" y="1023488"/>
                  <a:pt x="4699000" y="1023488"/>
                </a:cubicBezTo>
                <a:lnTo>
                  <a:pt x="416930" y="1023488"/>
                </a:lnTo>
                <a:cubicBezTo>
                  <a:pt x="364924" y="1023488"/>
                  <a:pt x="322765" y="981329"/>
                  <a:pt x="322765" y="929323"/>
                </a:cubicBezTo>
                <a:lnTo>
                  <a:pt x="322765" y="222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6475730" y="4900295"/>
            <a:ext cx="428688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通过多元传感与实时通信，支持分布式决策与协同作业。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7"/>
            </p:custDataLst>
          </p:nvPr>
        </p:nvSpPr>
        <p:spPr>
          <a:xfrm>
            <a:off x="1800225" y="3422650"/>
            <a:ext cx="172529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智能预警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8"/>
            </p:custDataLst>
          </p:nvPr>
        </p:nvSpPr>
        <p:spPr>
          <a:xfrm>
            <a:off x="2004695" y="4714240"/>
            <a:ext cx="1811020" cy="158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实时感知与决策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9"/>
            </p:custDataLst>
          </p:nvPr>
        </p:nvSpPr>
        <p:spPr>
          <a:xfrm>
            <a:off x="5533716" y="701192"/>
            <a:ext cx="150625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核心优势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商业价值分析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1005316" y="1145988"/>
            <a:ext cx="1841500" cy="1841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81075" y="1724025"/>
            <a:ext cx="1865630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客户价值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1005316" y="2887421"/>
            <a:ext cx="1841500" cy="184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981075" y="4323080"/>
            <a:ext cx="2000250" cy="19723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线连接符 9"/>
          <p:cNvCxnSpPr/>
          <p:nvPr>
            <p:custDataLst>
              <p:tags r:id="rId5"/>
            </p:custDataLst>
          </p:nvPr>
        </p:nvCxnSpPr>
        <p:spPr>
          <a:xfrm>
            <a:off x="3217656" y="2292229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4663908" y="2235079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线连接符 12"/>
          <p:cNvCxnSpPr/>
          <p:nvPr>
            <p:custDataLst>
              <p:tags r:id="rId7"/>
            </p:custDataLst>
          </p:nvPr>
        </p:nvCxnSpPr>
        <p:spPr>
          <a:xfrm>
            <a:off x="3331956" y="3807950"/>
            <a:ext cx="144625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4664075" y="3759200"/>
            <a:ext cx="114935" cy="142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线连接符 15"/>
          <p:cNvCxnSpPr/>
          <p:nvPr>
            <p:custDataLst>
              <p:tags r:id="rId9"/>
            </p:custDataLst>
          </p:nvPr>
        </p:nvCxnSpPr>
        <p:spPr>
          <a:xfrm>
            <a:off x="3331956" y="5380736"/>
            <a:ext cx="144625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4663908" y="5323586"/>
            <a:ext cx="114300" cy="114300"/>
          </a:xfrm>
          <a:prstGeom prst="ellipse">
            <a:avLst/>
          </a:prstGeom>
          <a:gradFill>
            <a:gsLst>
              <a:gs pos="0">
                <a:srgbClr val="6395DC"/>
              </a:gs>
              <a:gs pos="100000">
                <a:srgbClr val="1752B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5128895" y="885825"/>
            <a:ext cx="6118860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提升运营效率：替代人工巡检，降低人力成本，提高巡检频率与精度。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增强应急能力：实现快速响应与协同处置，减少事故损失。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数据驱动决策：通过大数据分析，为管理提供可视化、可预测的决策支持</a:t>
            </a:r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5128895" y="2889250"/>
            <a:ext cx="617220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政策支持：新型基础设施建设（如智慧城市、数字孪生）被列为国家战略。</a:t>
            </a:r>
            <a:endParaRPr kumimoji="1" lang="en-US" altLang="zh-CN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市场规模：据预测，</a:t>
            </a:r>
            <a:r>
              <a:rPr kumimoji="1" lang="en-US" altLang="zh-CN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2025</a:t>
            </a: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年中国智慧城市市场规模将超</a:t>
            </a:r>
            <a:r>
              <a:rPr kumimoji="1" lang="en-US" altLang="zh-CN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25</a:t>
            </a: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万亿元，其中智能巡检与安防板块增长迅速。</a:t>
            </a:r>
            <a:endParaRPr kumimoji="1" lang="en-US" altLang="zh-CN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商业化路径清晰：可提供</a:t>
            </a:r>
            <a:r>
              <a:rPr kumimoji="1" lang="en-US" altLang="zh-CN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SaaS</a:t>
            </a:r>
            <a:r>
              <a:rPr kumimoji="1" lang="zh-CN" altLang="en-US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平台、定制化解决方案、数据服务等多种商业模式</a:t>
            </a:r>
            <a:endParaRPr kumimoji="1" lang="zh-CN" altLang="en-US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5128895" y="5138420"/>
            <a:ext cx="635444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技术壁垒：多技术融合难度大，需具备卫星数据处理、</a:t>
            </a:r>
            <a:r>
              <a:rPr kumimoji="1" lang="en-US" altLang="zh-CN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AI</a:t>
            </a: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算法、物联网等综合能力。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先发优势：早期进入者可建立行业标准与客户生态。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数据积累：长期运营积累的数据可用于模型优化与服务升级</a:t>
            </a:r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1132205" y="3449320"/>
            <a:ext cx="172529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市场潜力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5"/>
            </p:custDataLst>
          </p:nvPr>
        </p:nvSpPr>
        <p:spPr>
          <a:xfrm>
            <a:off x="1170305" y="5055235"/>
            <a:ext cx="1811020" cy="1581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竞争壁垒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核心</a:t>
              </a:r>
              <a:r>
                <a:rPr lang="zh-CN" altLang="en-US" dirty="0">
                  <a:sym typeface="+mn-lt"/>
                </a:rPr>
                <a:t>功能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</p:grpSp>
      <p:grpSp>
        <p:nvGrpSpPr>
          <p:cNvPr id="79" name="组合 78"/>
          <p:cNvGrpSpPr/>
          <p:nvPr>
            <p:custDataLst>
              <p:tags r:id="rId1"/>
            </p:custDataLst>
          </p:nvPr>
        </p:nvGrpSpPr>
        <p:grpSpPr>
          <a:xfrm>
            <a:off x="1256311" y="1022275"/>
            <a:ext cx="9900284" cy="3155951"/>
            <a:chOff x="1255673" y="1525465"/>
            <a:chExt cx="9900283" cy="3155949"/>
          </a:xfrm>
        </p:grpSpPr>
        <p:sp>
          <p:nvSpPr>
            <p:cNvPr id="80" name="Oval 6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3735983" y="1525465"/>
              <a:ext cx="4067809" cy="71882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44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全域智能</a:t>
              </a: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巡检</a:t>
              </a: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3"/>
              </p:custDataLst>
            </p:nvPr>
          </p:nvSpPr>
          <p:spPr>
            <a:xfrm>
              <a:off x="1255673" y="2635445"/>
              <a:ext cx="4968874" cy="20459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无人机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实现周界巡航，高空勘察，热成像测温，违规识别，检测到火灾，告知机器狗改变路径，做出灭火措施（补充功能：山区施工，检测安全帽是否佩戴，烟头等可能发生火灾的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物品）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3" name="文本框 82"/>
            <p:cNvSpPr txBox="1"/>
            <p:nvPr>
              <p:custDataLst>
                <p:tags r:id="rId4"/>
              </p:custDataLst>
            </p:nvPr>
          </p:nvSpPr>
          <p:spPr>
            <a:xfrm>
              <a:off x="6637297" y="2661480"/>
              <a:ext cx="4518659" cy="17144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机器狗</a:t>
              </a:r>
              <a:r>
                <a:rPr lang="en-US" altLang="zh-CN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实现固定路径仓库巡逻，狭小空间探查，身份验证，环境检测，并做出措施（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灭火）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84" name="组合 83"/>
          <p:cNvGrpSpPr/>
          <p:nvPr>
            <p:custDataLst>
              <p:tags r:id="rId5"/>
            </p:custDataLst>
          </p:nvPr>
        </p:nvGrpSpPr>
        <p:grpSpPr>
          <a:xfrm>
            <a:off x="1464945" y="4225289"/>
            <a:ext cx="6521448" cy="1900556"/>
            <a:chOff x="3204300" y="4501506"/>
            <a:chExt cx="6521184" cy="1283670"/>
          </a:xfrm>
        </p:grpSpPr>
        <p:sp>
          <p:nvSpPr>
            <p:cNvPr id="85" name="Oval 84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6429333" y="4501506"/>
              <a:ext cx="3296151" cy="498371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44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智能预警与处置</a:t>
              </a: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7"/>
              </p:custDataLst>
            </p:nvPr>
          </p:nvSpPr>
          <p:spPr>
            <a:xfrm>
              <a:off x="3204300" y="5237912"/>
              <a:ext cx="3248528" cy="547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入侵检测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：无人机发现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警告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机器狗确认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8" name="文本框 87"/>
            <p:cNvSpPr txBox="1"/>
            <p:nvPr>
              <p:custDataLst>
                <p:tags r:id="rId8"/>
              </p:custDataLst>
            </p:nvPr>
          </p:nvSpPr>
          <p:spPr>
            <a:xfrm>
              <a:off x="6517595" y="5237912"/>
              <a:ext cx="2819286" cy="547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火灾预防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：热成像识温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多角度确认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自动报警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986395" y="5315585"/>
            <a:ext cx="29203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违规监控：AI识别违规行为 → 实时预警推送 → 远程喊话制止 → 自动记录取证 → 生成处置报告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：识别违规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-&gt;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远程制止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-&gt;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记录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取证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334716"/>
            <a:ext cx="5285935" cy="811530"/>
            <a:chOff x="417285" y="190234"/>
            <a:chExt cx="528593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028298" y="190234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核心</a:t>
              </a:r>
              <a:r>
                <a:rPr lang="zh-CN" altLang="en-US" dirty="0">
                  <a:sym typeface="+mn-lt"/>
                </a:rPr>
                <a:t>功能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</p:grpSp>
      <p:grpSp>
        <p:nvGrpSpPr>
          <p:cNvPr id="53" name="组合 52"/>
          <p:cNvGrpSpPr/>
          <p:nvPr>
            <p:custDataLst>
              <p:tags r:id="rId1"/>
            </p:custDataLst>
          </p:nvPr>
        </p:nvGrpSpPr>
        <p:grpSpPr>
          <a:xfrm>
            <a:off x="0" y="3233407"/>
            <a:ext cx="10906992" cy="840991"/>
            <a:chOff x="0" y="3494663"/>
            <a:chExt cx="10906992" cy="840991"/>
          </a:xfrm>
          <a:solidFill>
            <a:schemeClr val="accent2"/>
          </a:solidFill>
        </p:grpSpPr>
        <p:cxnSp>
          <p:nvCxnSpPr>
            <p:cNvPr id="54" name="Straight Arrow Connector 48"/>
            <p:cNvCxnSpPr/>
            <p:nvPr>
              <p:custDataLst>
                <p:tags r:id="rId2"/>
              </p:custDataLst>
            </p:nvPr>
          </p:nvCxnSpPr>
          <p:spPr>
            <a:xfrm>
              <a:off x="0" y="3902417"/>
              <a:ext cx="10906992" cy="0"/>
            </a:xfrm>
            <a:prstGeom prst="straightConnector1">
              <a:avLst/>
            </a:prstGeom>
            <a:grpFill/>
            <a:ln w="114300" cap="flat" cmpd="sng" algn="ctr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55" name="Group 11"/>
            <p:cNvGrpSpPr/>
            <p:nvPr/>
          </p:nvGrpSpPr>
          <p:grpSpPr>
            <a:xfrm>
              <a:off x="6987118" y="3494663"/>
              <a:ext cx="2206639" cy="248366"/>
              <a:chOff x="7163516" y="3227357"/>
              <a:chExt cx="2262348" cy="254634"/>
            </a:xfrm>
            <a:grpFill/>
          </p:grpSpPr>
          <p:sp>
            <p:nvSpPr>
              <p:cNvPr id="77" name="Rectangle 51"/>
              <p:cNvSpPr/>
              <p:nvPr>
                <p:custDataLst>
                  <p:tags r:id="rId3"/>
                </p:custDataLst>
              </p:nvPr>
            </p:nvSpPr>
            <p:spPr>
              <a:xfrm>
                <a:off x="7163516" y="3300674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78" name="Oval 57"/>
              <p:cNvSpPr/>
              <p:nvPr>
                <p:custDataLst>
                  <p:tags r:id="rId4"/>
                </p:custDataLst>
              </p:nvPr>
            </p:nvSpPr>
            <p:spPr>
              <a:xfrm>
                <a:off x="9171230" y="3227357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10"/>
            <p:cNvGrpSpPr/>
            <p:nvPr/>
          </p:nvGrpSpPr>
          <p:grpSpPr>
            <a:xfrm>
              <a:off x="6987118" y="4087288"/>
              <a:ext cx="2206639" cy="248366"/>
              <a:chOff x="7163516" y="3834942"/>
              <a:chExt cx="2262348" cy="254634"/>
            </a:xfrm>
            <a:grpFill/>
          </p:grpSpPr>
          <p:sp>
            <p:nvSpPr>
              <p:cNvPr id="75" name="Rectangle 72"/>
              <p:cNvSpPr/>
              <p:nvPr>
                <p:custDataLst>
                  <p:tags r:id="rId5"/>
                </p:custDataLst>
              </p:nvPr>
            </p:nvSpPr>
            <p:spPr>
              <a:xfrm>
                <a:off x="7163516" y="3908259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76" name="Oval 78"/>
              <p:cNvSpPr/>
              <p:nvPr>
                <p:custDataLst>
                  <p:tags r:id="rId6"/>
                </p:custDataLst>
              </p:nvPr>
            </p:nvSpPr>
            <p:spPr>
              <a:xfrm>
                <a:off x="9171230" y="3834942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Group 6"/>
            <p:cNvGrpSpPr/>
            <p:nvPr/>
          </p:nvGrpSpPr>
          <p:grpSpPr>
            <a:xfrm>
              <a:off x="4904661" y="3494663"/>
              <a:ext cx="2206639" cy="248366"/>
              <a:chOff x="5028485" y="3227357"/>
              <a:chExt cx="2262348" cy="254634"/>
            </a:xfrm>
            <a:grpFill/>
          </p:grpSpPr>
          <p:sp>
            <p:nvSpPr>
              <p:cNvPr id="73" name="Rectangle 50"/>
              <p:cNvSpPr/>
              <p:nvPr>
                <p:custDataLst>
                  <p:tags r:id="rId7"/>
                </p:custDataLst>
              </p:nvPr>
            </p:nvSpPr>
            <p:spPr>
              <a:xfrm>
                <a:off x="5028485" y="3300674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Oval 56"/>
              <p:cNvSpPr/>
              <p:nvPr>
                <p:custDataLst>
                  <p:tags r:id="rId8"/>
                </p:custDataLst>
              </p:nvPr>
            </p:nvSpPr>
            <p:spPr>
              <a:xfrm>
                <a:off x="7036199" y="3227357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8" name="Group 9"/>
            <p:cNvGrpSpPr/>
            <p:nvPr/>
          </p:nvGrpSpPr>
          <p:grpSpPr>
            <a:xfrm>
              <a:off x="4904661" y="4087288"/>
              <a:ext cx="2206639" cy="248366"/>
              <a:chOff x="5028485" y="3834942"/>
              <a:chExt cx="2262348" cy="254634"/>
            </a:xfrm>
            <a:grpFill/>
          </p:grpSpPr>
          <p:sp>
            <p:nvSpPr>
              <p:cNvPr id="71" name="Rectangle 71"/>
              <p:cNvSpPr/>
              <p:nvPr>
                <p:custDataLst>
                  <p:tags r:id="rId9"/>
                </p:custDataLst>
              </p:nvPr>
            </p:nvSpPr>
            <p:spPr>
              <a:xfrm>
                <a:off x="5028485" y="3908259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Oval 77"/>
              <p:cNvSpPr/>
              <p:nvPr>
                <p:custDataLst>
                  <p:tags r:id="rId10"/>
                </p:custDataLst>
              </p:nvPr>
            </p:nvSpPr>
            <p:spPr>
              <a:xfrm>
                <a:off x="7036199" y="3834942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9" name="Group 4"/>
            <p:cNvGrpSpPr/>
            <p:nvPr/>
          </p:nvGrpSpPr>
          <p:grpSpPr>
            <a:xfrm>
              <a:off x="2899497" y="3494663"/>
              <a:ext cx="2129346" cy="248366"/>
              <a:chOff x="2972698" y="3227357"/>
              <a:chExt cx="2183104" cy="254634"/>
            </a:xfrm>
            <a:grpFill/>
          </p:grpSpPr>
          <p:sp>
            <p:nvSpPr>
              <p:cNvPr id="69" name="Rectangle 53"/>
              <p:cNvSpPr/>
              <p:nvPr>
                <p:custDataLst>
                  <p:tags r:id="rId11"/>
                </p:custDataLst>
              </p:nvPr>
            </p:nvSpPr>
            <p:spPr>
              <a:xfrm>
                <a:off x="2972698" y="3300674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70" name="Oval 54"/>
              <p:cNvSpPr/>
              <p:nvPr>
                <p:custDataLst>
                  <p:tags r:id="rId12"/>
                </p:custDataLst>
              </p:nvPr>
            </p:nvSpPr>
            <p:spPr>
              <a:xfrm>
                <a:off x="4901168" y="3227357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Group 1"/>
            <p:cNvGrpSpPr/>
            <p:nvPr/>
          </p:nvGrpSpPr>
          <p:grpSpPr>
            <a:xfrm>
              <a:off x="0" y="3494663"/>
              <a:ext cx="2946387" cy="248366"/>
              <a:chOff x="0" y="3227357"/>
              <a:chExt cx="3020771" cy="254634"/>
            </a:xfrm>
            <a:grpFill/>
          </p:grpSpPr>
          <p:sp>
            <p:nvSpPr>
              <p:cNvPr id="67" name="Rectangle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3300674"/>
                <a:ext cx="2882900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Oval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66137" y="3227357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1" name="Group 5"/>
            <p:cNvGrpSpPr/>
            <p:nvPr/>
          </p:nvGrpSpPr>
          <p:grpSpPr>
            <a:xfrm>
              <a:off x="2899497" y="4087288"/>
              <a:ext cx="2129346" cy="248366"/>
              <a:chOff x="2972698" y="3834942"/>
              <a:chExt cx="2183104" cy="254634"/>
            </a:xfrm>
            <a:grpFill/>
          </p:grpSpPr>
          <p:sp>
            <p:nvSpPr>
              <p:cNvPr id="65" name="Rectangle 7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972698" y="3908259"/>
                <a:ext cx="2097777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6" name="Oval 75"/>
              <p:cNvSpPr/>
              <p:nvPr>
                <p:custDataLst>
                  <p:tags r:id="rId16"/>
                </p:custDataLst>
              </p:nvPr>
            </p:nvSpPr>
            <p:spPr>
              <a:xfrm>
                <a:off x="4901168" y="3834942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2" name="Group 2"/>
            <p:cNvGrpSpPr/>
            <p:nvPr/>
          </p:nvGrpSpPr>
          <p:grpSpPr>
            <a:xfrm>
              <a:off x="0" y="4087288"/>
              <a:ext cx="2946387" cy="248366"/>
              <a:chOff x="0" y="3834942"/>
              <a:chExt cx="3020771" cy="254634"/>
            </a:xfrm>
            <a:grpFill/>
          </p:grpSpPr>
          <p:sp>
            <p:nvSpPr>
              <p:cNvPr id="63" name="Rectangle 73"/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3908259"/>
                <a:ext cx="2924175" cy="108000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4" name="Oval 76"/>
              <p:cNvSpPr/>
              <p:nvPr>
                <p:custDataLst>
                  <p:tags r:id="rId18"/>
                </p:custDataLst>
              </p:nvPr>
            </p:nvSpPr>
            <p:spPr>
              <a:xfrm>
                <a:off x="2766137" y="3834942"/>
                <a:ext cx="254634" cy="254634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defTabSz="91440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700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19"/>
            </p:custDataLst>
          </p:nvPr>
        </p:nvGrpSpPr>
        <p:grpSpPr>
          <a:xfrm>
            <a:off x="1817016" y="1650925"/>
            <a:ext cx="6822440" cy="1465580"/>
            <a:chOff x="1816378" y="1980125"/>
            <a:chExt cx="6822439" cy="1465579"/>
          </a:xfrm>
        </p:grpSpPr>
        <p:sp>
          <p:nvSpPr>
            <p:cNvPr id="80" name="Oval 60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>
            <a:xfrm>
              <a:off x="3472458" y="1980125"/>
              <a:ext cx="3047365" cy="53848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44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智能协同作业</a:t>
              </a: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2" name="文本框 81"/>
            <p:cNvSpPr txBox="1"/>
            <p:nvPr>
              <p:custDataLst>
                <p:tags r:id="rId21"/>
              </p:custDataLst>
            </p:nvPr>
          </p:nvSpPr>
          <p:spPr>
            <a:xfrm>
              <a:off x="1816378" y="2635445"/>
              <a:ext cx="3357245" cy="810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空地协同工作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：无人机高空发现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传坐标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机械狗地面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确认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3" name="文本框 82"/>
            <p:cNvSpPr txBox="1"/>
            <p:nvPr>
              <p:custDataLst>
                <p:tags r:id="rId22"/>
              </p:custDataLst>
            </p:nvPr>
          </p:nvSpPr>
          <p:spPr>
            <a:xfrm>
              <a:off x="5675907" y="2635445"/>
              <a:ext cx="2962910" cy="810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动态任务分配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：智能分配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冲突仲裁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-&gt;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故障任务转移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84" name="组合 83"/>
          <p:cNvGrpSpPr/>
          <p:nvPr>
            <p:custDataLst>
              <p:tags r:id="rId23"/>
            </p:custDataLst>
          </p:nvPr>
        </p:nvGrpSpPr>
        <p:grpSpPr>
          <a:xfrm>
            <a:off x="3743389" y="4276857"/>
            <a:ext cx="6498590" cy="1626235"/>
            <a:chOff x="3743388" y="4538114"/>
            <a:chExt cx="6498589" cy="1626234"/>
          </a:xfrm>
        </p:grpSpPr>
        <p:sp>
          <p:nvSpPr>
            <p:cNvPr id="85" name="Oval 84"/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945443" y="4538114"/>
              <a:ext cx="3120390" cy="538480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1" forceAA="0" compatLnSpc="1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defTabSz="91440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数据智能分析功能</a:t>
              </a:r>
              <a:endParaRPr lang="zh-CN" altLang="en-US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5"/>
              </p:custDataLst>
            </p:nvPr>
          </p:nvSpPr>
          <p:spPr>
            <a:xfrm>
              <a:off x="3743388" y="5318529"/>
              <a:ext cx="3119120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实时态势感知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：安全评分，风险标区，远程诊断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8" name="文本框 87"/>
            <p:cNvSpPr txBox="1"/>
            <p:nvPr>
              <p:custDataLst>
                <p:tags r:id="rId26"/>
              </p:custDataLst>
            </p:nvPr>
          </p:nvSpPr>
          <p:spPr>
            <a:xfrm>
              <a:off x="7263827" y="5354088"/>
              <a:ext cx="2978150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预测性维护</a:t>
              </a:r>
              <a:r>
                <a:rPr lang="zh-CN" altLang="en-US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：设备健康检测，故障预警，耗材预测补物</a:t>
              </a:r>
              <a:endPara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1200000" y="5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5C97"/>
                </a:solidFill>
                <a:latin typeface="微软雅黑"/>
              </a:rPr>
              <a:t>系统技术架构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00000" y="1100000"/>
            <a:ext cx="4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天基层（Space Layer）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卫星遥感：高分系列/商业卫星，提供大范围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宏观监测数据（光学+SAR多源融合）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无人机平台：多旋翼/固定翼无人机，搭载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可见光/红外/LiDAR载荷，执行精细巡检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通信链路：5G/卫星通信，实现实时回传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0000" y="1100000"/>
            <a:ext cx="4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地基层（Ground Layer）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IoT传感器网络：温湿度、振动、气体、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水质等多类型传感器，全天候实时采集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AI视频监控：智能摄像头 + 边缘AI推理，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秒级异常识别与告警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移动终端：巡检人员手持终端 + 执法记录仪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00000" y="3500000"/>
            <a:ext cx="4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微软雅黑"/>
              </a:rPr>
              <a:t>数据层（Data Layer）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边缘计算：现场数据预处理，毫秒级响应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云端平台：弹性存储 + GPU集群，支撑AI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模型训练与大规模推理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数据融合引擎：多源异构数据对齐、融合、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   关联分析，构建统一数据底座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00000" y="3500000"/>
            <a:ext cx="4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92D1"/>
                </a:solidFill>
                <a:latin typeface="微软雅黑"/>
              </a:rPr>
              <a:t>应用层（Application Layer）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全域巡检管理：自动路径规划、任务调度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智能预警中心：多模型融合研判、分级告警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应急指挥调度：一键联动、资源协同调配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数据可视化大屏：GIS + 三维可视化展示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开放API：支持第三方系统对接与扩展</a:t>
            </a:r>
          </a:p>
        </p:txBody>
      </p:sp>
    </p:spTree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5887" y="406471"/>
            <a:ext cx="5454845" cy="811530"/>
            <a:chOff x="417285" y="261989"/>
            <a:chExt cx="5454845" cy="811530"/>
          </a:xfrm>
        </p:grpSpPr>
        <p:sp>
          <p:nvSpPr>
            <p:cNvPr id="6" name="TextBox 20"/>
            <p:cNvSpPr txBox="1"/>
            <p:nvPr/>
          </p:nvSpPr>
          <p:spPr>
            <a:xfrm>
              <a:off x="1197208" y="261989"/>
              <a:ext cx="4674922" cy="8115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3600" spc="300">
                  <a:solidFill>
                    <a:schemeClr val="accent1">
                      <a:lumMod val="75000"/>
                    </a:schemeClr>
                  </a:solidFill>
                  <a:latin typeface="Aa润行体 (非商业使用)" pitchFamily="2" charset="-122"/>
                  <a:ea typeface="Aa润行体 (非商业使用)" pitchFamily="2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+mn-lt"/>
                </a:rPr>
                <a:t>核心技术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417285" y="391885"/>
              <a:ext cx="486229" cy="4862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dirty="0"/>
                <a:t>4</a:t>
              </a:r>
              <a:endParaRPr lang="en-US" altLang="zh-CN" sz="2000" dirty="0"/>
            </a:p>
          </p:txBody>
        </p:sp>
      </p:grp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668657" y="1626237"/>
            <a:ext cx="5153025" cy="18027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370321" y="1626237"/>
            <a:ext cx="5153025" cy="18027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68657" y="3836672"/>
            <a:ext cx="5153025" cy="18027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6370321" y="3836672"/>
            <a:ext cx="5153025" cy="18027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>
            <a:off x="880111" y="2088517"/>
            <a:ext cx="878205" cy="8782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880111" y="4298952"/>
            <a:ext cx="878205" cy="8782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7"/>
            </p:custDataLst>
          </p:nvPr>
        </p:nvSpPr>
        <p:spPr>
          <a:xfrm>
            <a:off x="6609716" y="2088517"/>
            <a:ext cx="878205" cy="8782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6609716" y="4298952"/>
            <a:ext cx="878205" cy="8782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3" name="文本框 17"/>
          <p:cNvSpPr txBox="1"/>
          <p:nvPr>
            <p:custDataLst>
              <p:tags r:id="rId9"/>
            </p:custDataLst>
          </p:nvPr>
        </p:nvSpPr>
        <p:spPr bwMode="auto">
          <a:xfrm>
            <a:off x="1900555" y="2376172"/>
            <a:ext cx="3308351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自动路径规划</a:t>
            </a: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识别</a:t>
            </a: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4" name="文本框 92"/>
          <p:cNvSpPr txBox="1"/>
          <p:nvPr>
            <p:custDataLst>
              <p:tags r:id="rId10"/>
            </p:custDataLst>
          </p:nvPr>
        </p:nvSpPr>
        <p:spPr>
          <a:xfrm>
            <a:off x="1900555" y="1974099"/>
            <a:ext cx="31216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"/>
                <a:sym typeface="+mn-lt"/>
              </a:rPr>
              <a:t>智能巡检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5" name="文本框 93"/>
          <p:cNvSpPr txBox="1"/>
          <p:nvPr>
            <p:custDataLst>
              <p:tags r:id="rId11"/>
            </p:custDataLst>
          </p:nvPr>
        </p:nvSpPr>
        <p:spPr bwMode="auto">
          <a:xfrm>
            <a:off x="7715250" y="2465707"/>
            <a:ext cx="3308351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快速分析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多元传感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6" name="文本框 95"/>
          <p:cNvSpPr txBox="1"/>
          <p:nvPr>
            <p:custDataLst>
              <p:tags r:id="rId12"/>
            </p:custDataLst>
          </p:nvPr>
        </p:nvSpPr>
        <p:spPr>
          <a:xfrm>
            <a:off x="7715251" y="1974099"/>
            <a:ext cx="31216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"/>
                <a:sym typeface="+mn-lt"/>
              </a:rPr>
              <a:t>应急响应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7" name="文本框 13"/>
          <p:cNvSpPr txBox="1"/>
          <p:nvPr>
            <p:custDataLst>
              <p:tags r:id="rId13"/>
            </p:custDataLst>
          </p:nvPr>
        </p:nvSpPr>
        <p:spPr bwMode="auto">
          <a:xfrm>
            <a:off x="1900555" y="4530727"/>
            <a:ext cx="3308351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分布式决策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实时通信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8" name="文本框 97"/>
          <p:cNvSpPr txBox="1"/>
          <p:nvPr>
            <p:custDataLst>
              <p:tags r:id="rId14"/>
            </p:custDataLst>
          </p:nvPr>
        </p:nvSpPr>
        <p:spPr>
          <a:xfrm>
            <a:off x="1900555" y="4128654"/>
            <a:ext cx="31216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"/>
                <a:sym typeface="+mn-lt"/>
              </a:rPr>
              <a:t>协同作业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 bwMode="auto">
          <a:xfrm>
            <a:off x="7715250" y="4530727"/>
            <a:ext cx="3308351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大数据分析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  <a:p>
            <a:pPr marL="0" marR="0" lvl="0" indent="0" algn="l" defTabSz="1219200" rtl="0" eaLnBrk="1" fontAlgn="base" latinLnBrk="0" hangingPunct="1">
              <a:lnSpc>
                <a:spcPct val="13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cs typeface="阿里巴巴普惠体"/>
                <a:sym typeface="+mn-lt"/>
              </a:rPr>
              <a:t>模式识别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20" name="文本框 99"/>
          <p:cNvSpPr txBox="1"/>
          <p:nvPr>
            <p:custDataLst>
              <p:tags r:id="rId16"/>
            </p:custDataLst>
          </p:nvPr>
        </p:nvSpPr>
        <p:spPr>
          <a:xfrm>
            <a:off x="7715251" y="4128654"/>
            <a:ext cx="31216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"/>
                <a:sym typeface="+mn-lt"/>
              </a:rPr>
              <a:t>预测预警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"/>
              <a:sym typeface="+mn-lt"/>
            </a:endParaRPr>
          </a:p>
        </p:txBody>
      </p:sp>
      <p:sp>
        <p:nvSpPr>
          <p:cNvPr id="21" name="任意多边形 100"/>
          <p:cNvSpPr/>
          <p:nvPr>
            <p:custDataLst>
              <p:tags r:id="rId17"/>
            </p:custDataLst>
          </p:nvPr>
        </p:nvSpPr>
        <p:spPr>
          <a:xfrm>
            <a:off x="1118236" y="2347595"/>
            <a:ext cx="40068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40" h="5680">
                <a:moveTo>
                  <a:pt x="1" y="910"/>
                </a:moveTo>
                <a:lnTo>
                  <a:pt x="6339" y="910"/>
                </a:lnTo>
                <a:lnTo>
                  <a:pt x="6339" y="2742"/>
                </a:lnTo>
                <a:lnTo>
                  <a:pt x="6339" y="2744"/>
                </a:lnTo>
                <a:lnTo>
                  <a:pt x="6339" y="2759"/>
                </a:lnTo>
                <a:lnTo>
                  <a:pt x="6340" y="2774"/>
                </a:lnTo>
                <a:lnTo>
                  <a:pt x="6340" y="5098"/>
                </a:lnTo>
                <a:lnTo>
                  <a:pt x="6340" y="5114"/>
                </a:lnTo>
                <a:lnTo>
                  <a:pt x="6340" y="5129"/>
                </a:lnTo>
                <a:cubicBezTo>
                  <a:pt x="6347" y="5441"/>
                  <a:pt x="6008" y="5687"/>
                  <a:pt x="5785" y="5680"/>
                </a:cubicBezTo>
                <a:lnTo>
                  <a:pt x="5772" y="5680"/>
                </a:lnTo>
                <a:lnTo>
                  <a:pt x="5758" y="5680"/>
                </a:lnTo>
                <a:lnTo>
                  <a:pt x="581" y="5680"/>
                </a:lnTo>
                <a:lnTo>
                  <a:pt x="566" y="5680"/>
                </a:lnTo>
                <a:lnTo>
                  <a:pt x="551" y="5680"/>
                </a:lnTo>
                <a:cubicBezTo>
                  <a:pt x="239" y="5687"/>
                  <a:pt x="-7" y="5348"/>
                  <a:pt x="0" y="5125"/>
                </a:cubicBezTo>
                <a:lnTo>
                  <a:pt x="0" y="5112"/>
                </a:lnTo>
                <a:lnTo>
                  <a:pt x="0" y="5098"/>
                </a:lnTo>
                <a:lnTo>
                  <a:pt x="0" y="2774"/>
                </a:lnTo>
                <a:lnTo>
                  <a:pt x="1" y="2759"/>
                </a:lnTo>
                <a:lnTo>
                  <a:pt x="1" y="2744"/>
                </a:lnTo>
                <a:lnTo>
                  <a:pt x="1" y="2742"/>
                </a:lnTo>
                <a:lnTo>
                  <a:pt x="1" y="910"/>
                </a:lnTo>
                <a:close/>
                <a:moveTo>
                  <a:pt x="637" y="1535"/>
                </a:moveTo>
                <a:lnTo>
                  <a:pt x="5702" y="1535"/>
                </a:lnTo>
                <a:lnTo>
                  <a:pt x="5702" y="5054"/>
                </a:lnTo>
                <a:lnTo>
                  <a:pt x="637" y="5054"/>
                </a:lnTo>
                <a:lnTo>
                  <a:pt x="637" y="1535"/>
                </a:lnTo>
                <a:close/>
                <a:moveTo>
                  <a:pt x="3157" y="3238"/>
                </a:moveTo>
                <a:lnTo>
                  <a:pt x="3158" y="3263"/>
                </a:lnTo>
                <a:cubicBezTo>
                  <a:pt x="3173" y="3781"/>
                  <a:pt x="2652" y="4193"/>
                  <a:pt x="2238" y="4181"/>
                </a:cubicBezTo>
                <a:lnTo>
                  <a:pt x="2215" y="4181"/>
                </a:lnTo>
                <a:lnTo>
                  <a:pt x="2190" y="4181"/>
                </a:lnTo>
                <a:cubicBezTo>
                  <a:pt x="1673" y="4196"/>
                  <a:pt x="1260" y="3675"/>
                  <a:pt x="1272" y="3261"/>
                </a:cubicBezTo>
                <a:lnTo>
                  <a:pt x="1273" y="3238"/>
                </a:lnTo>
                <a:lnTo>
                  <a:pt x="1272" y="3213"/>
                </a:lnTo>
                <a:cubicBezTo>
                  <a:pt x="1257" y="2696"/>
                  <a:pt x="1778" y="2284"/>
                  <a:pt x="2192" y="2296"/>
                </a:cubicBezTo>
                <a:lnTo>
                  <a:pt x="2215" y="2296"/>
                </a:lnTo>
                <a:lnTo>
                  <a:pt x="2215" y="3238"/>
                </a:lnTo>
                <a:lnTo>
                  <a:pt x="3157" y="3238"/>
                </a:lnTo>
                <a:close/>
                <a:moveTo>
                  <a:pt x="3481" y="2282"/>
                </a:moveTo>
                <a:lnTo>
                  <a:pt x="5067" y="2282"/>
                </a:lnTo>
                <a:lnTo>
                  <a:pt x="5067" y="2916"/>
                </a:lnTo>
                <a:lnTo>
                  <a:pt x="3481" y="2916"/>
                </a:lnTo>
                <a:lnTo>
                  <a:pt x="3481" y="2282"/>
                </a:lnTo>
                <a:close/>
                <a:moveTo>
                  <a:pt x="3481" y="3547"/>
                </a:moveTo>
                <a:lnTo>
                  <a:pt x="5067" y="3547"/>
                </a:lnTo>
                <a:lnTo>
                  <a:pt x="5067" y="4181"/>
                </a:lnTo>
                <a:lnTo>
                  <a:pt x="3481" y="4181"/>
                </a:lnTo>
                <a:lnTo>
                  <a:pt x="3481" y="3547"/>
                </a:lnTo>
                <a:close/>
                <a:moveTo>
                  <a:pt x="1" y="0"/>
                </a:moveTo>
                <a:lnTo>
                  <a:pt x="6339" y="0"/>
                </a:lnTo>
                <a:lnTo>
                  <a:pt x="6339" y="647"/>
                </a:lnTo>
                <a:lnTo>
                  <a:pt x="1" y="647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22" name="任意多边形 101"/>
          <p:cNvSpPr/>
          <p:nvPr>
            <p:custDataLst>
              <p:tags r:id="rId18"/>
            </p:custDataLst>
          </p:nvPr>
        </p:nvSpPr>
        <p:spPr>
          <a:xfrm>
            <a:off x="6804661" y="2283462"/>
            <a:ext cx="488315" cy="4883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710" h="8710">
                <a:moveTo>
                  <a:pt x="3825" y="0"/>
                </a:moveTo>
                <a:lnTo>
                  <a:pt x="4885" y="0"/>
                </a:lnTo>
                <a:lnTo>
                  <a:pt x="4885" y="964"/>
                </a:lnTo>
                <a:cubicBezTo>
                  <a:pt x="5262" y="973"/>
                  <a:pt x="6146" y="1372"/>
                  <a:pt x="6368" y="1592"/>
                </a:cubicBezTo>
                <a:lnTo>
                  <a:pt x="7060" y="901"/>
                </a:lnTo>
                <a:lnTo>
                  <a:pt x="7809" y="1650"/>
                </a:lnTo>
                <a:lnTo>
                  <a:pt x="7112" y="2347"/>
                </a:lnTo>
                <a:cubicBezTo>
                  <a:pt x="7437" y="2729"/>
                  <a:pt x="7716" y="3528"/>
                  <a:pt x="7740" y="3825"/>
                </a:cubicBezTo>
                <a:lnTo>
                  <a:pt x="8710" y="3825"/>
                </a:lnTo>
                <a:lnTo>
                  <a:pt x="8710" y="4885"/>
                </a:lnTo>
                <a:lnTo>
                  <a:pt x="7745" y="4885"/>
                </a:lnTo>
                <a:cubicBezTo>
                  <a:pt x="7736" y="5267"/>
                  <a:pt x="7335" y="6150"/>
                  <a:pt x="7118" y="6369"/>
                </a:cubicBezTo>
                <a:lnTo>
                  <a:pt x="7809" y="7060"/>
                </a:lnTo>
                <a:lnTo>
                  <a:pt x="7060" y="7809"/>
                </a:lnTo>
                <a:lnTo>
                  <a:pt x="6364" y="7114"/>
                </a:lnTo>
                <a:cubicBezTo>
                  <a:pt x="5977" y="7442"/>
                  <a:pt x="5182" y="7719"/>
                  <a:pt x="4885" y="7743"/>
                </a:cubicBezTo>
                <a:lnTo>
                  <a:pt x="4885" y="8710"/>
                </a:lnTo>
                <a:lnTo>
                  <a:pt x="3825" y="8710"/>
                </a:lnTo>
                <a:lnTo>
                  <a:pt x="3825" y="7748"/>
                </a:lnTo>
                <a:cubicBezTo>
                  <a:pt x="3440" y="7739"/>
                  <a:pt x="2561" y="7339"/>
                  <a:pt x="2339" y="7120"/>
                </a:cubicBezTo>
                <a:lnTo>
                  <a:pt x="1650" y="7809"/>
                </a:lnTo>
                <a:lnTo>
                  <a:pt x="901" y="7060"/>
                </a:lnTo>
                <a:lnTo>
                  <a:pt x="1594" y="6366"/>
                </a:lnTo>
                <a:cubicBezTo>
                  <a:pt x="1268" y="5980"/>
                  <a:pt x="991" y="5187"/>
                  <a:pt x="966" y="4885"/>
                </a:cubicBezTo>
                <a:lnTo>
                  <a:pt x="0" y="4885"/>
                </a:lnTo>
                <a:lnTo>
                  <a:pt x="0" y="3825"/>
                </a:lnTo>
                <a:lnTo>
                  <a:pt x="961" y="3825"/>
                </a:lnTo>
                <a:cubicBezTo>
                  <a:pt x="971" y="3446"/>
                  <a:pt x="1368" y="2565"/>
                  <a:pt x="1590" y="2340"/>
                </a:cubicBezTo>
                <a:lnTo>
                  <a:pt x="901" y="1650"/>
                </a:lnTo>
                <a:lnTo>
                  <a:pt x="1650" y="901"/>
                </a:lnTo>
                <a:lnTo>
                  <a:pt x="2345" y="1596"/>
                </a:lnTo>
                <a:cubicBezTo>
                  <a:pt x="2726" y="1273"/>
                  <a:pt x="3522" y="993"/>
                  <a:pt x="3825" y="969"/>
                </a:cubicBezTo>
                <a:lnTo>
                  <a:pt x="3825" y="0"/>
                </a:lnTo>
                <a:close/>
                <a:moveTo>
                  <a:pt x="1814" y="4356"/>
                </a:moveTo>
                <a:lnTo>
                  <a:pt x="1813" y="4288"/>
                </a:lnTo>
                <a:cubicBezTo>
                  <a:pt x="1772" y="2894"/>
                  <a:pt x="3175" y="1783"/>
                  <a:pt x="4292" y="1816"/>
                </a:cubicBezTo>
                <a:lnTo>
                  <a:pt x="4353" y="1817"/>
                </a:lnTo>
                <a:lnTo>
                  <a:pt x="4421" y="1816"/>
                </a:lnTo>
                <a:cubicBezTo>
                  <a:pt x="5815" y="1775"/>
                  <a:pt x="6926" y="3178"/>
                  <a:pt x="6893" y="4295"/>
                </a:cubicBezTo>
                <a:lnTo>
                  <a:pt x="6892" y="4356"/>
                </a:lnTo>
                <a:lnTo>
                  <a:pt x="6894" y="4424"/>
                </a:lnTo>
                <a:cubicBezTo>
                  <a:pt x="6935" y="5818"/>
                  <a:pt x="5531" y="6929"/>
                  <a:pt x="4414" y="6896"/>
                </a:cubicBezTo>
                <a:lnTo>
                  <a:pt x="4353" y="6895"/>
                </a:lnTo>
                <a:lnTo>
                  <a:pt x="4285" y="6897"/>
                </a:lnTo>
                <a:cubicBezTo>
                  <a:pt x="2891" y="6938"/>
                  <a:pt x="1780" y="5534"/>
                  <a:pt x="1813" y="4417"/>
                </a:cubicBezTo>
                <a:lnTo>
                  <a:pt x="1814" y="43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23" name="任意多边形 102"/>
          <p:cNvSpPr/>
          <p:nvPr>
            <p:custDataLst>
              <p:tags r:id="rId19"/>
            </p:custDataLst>
          </p:nvPr>
        </p:nvSpPr>
        <p:spPr>
          <a:xfrm>
            <a:off x="1118235" y="4518660"/>
            <a:ext cx="401320" cy="4394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085" h="6642">
                <a:moveTo>
                  <a:pt x="1" y="2610"/>
                </a:moveTo>
                <a:lnTo>
                  <a:pt x="0" y="2540"/>
                </a:lnTo>
                <a:cubicBezTo>
                  <a:pt x="-42" y="1108"/>
                  <a:pt x="1400" y="-33"/>
                  <a:pt x="2547" y="0"/>
                </a:cubicBezTo>
                <a:lnTo>
                  <a:pt x="2610" y="1"/>
                </a:lnTo>
                <a:lnTo>
                  <a:pt x="2680" y="0"/>
                </a:lnTo>
                <a:cubicBezTo>
                  <a:pt x="4112" y="-42"/>
                  <a:pt x="5253" y="1400"/>
                  <a:pt x="5220" y="2547"/>
                </a:cubicBezTo>
                <a:lnTo>
                  <a:pt x="5219" y="2610"/>
                </a:lnTo>
                <a:lnTo>
                  <a:pt x="5220" y="2680"/>
                </a:lnTo>
                <a:cubicBezTo>
                  <a:pt x="5262" y="3330"/>
                  <a:pt x="4826" y="4085"/>
                  <a:pt x="4515" y="4385"/>
                </a:cubicBezTo>
                <a:lnTo>
                  <a:pt x="5978" y="6010"/>
                </a:lnTo>
                <a:lnTo>
                  <a:pt x="5981" y="6013"/>
                </a:lnTo>
                <a:lnTo>
                  <a:pt x="5988" y="6020"/>
                </a:lnTo>
                <a:lnTo>
                  <a:pt x="5994" y="6027"/>
                </a:lnTo>
                <a:lnTo>
                  <a:pt x="5997" y="6031"/>
                </a:lnTo>
                <a:lnTo>
                  <a:pt x="6022" y="6059"/>
                </a:lnTo>
                <a:lnTo>
                  <a:pt x="6020" y="6061"/>
                </a:lnTo>
                <a:cubicBezTo>
                  <a:pt x="6059" y="6113"/>
                  <a:pt x="6085" y="6212"/>
                  <a:pt x="6083" y="6265"/>
                </a:cubicBezTo>
                <a:cubicBezTo>
                  <a:pt x="6101" y="6460"/>
                  <a:pt x="5889" y="6654"/>
                  <a:pt x="5714" y="6641"/>
                </a:cubicBezTo>
                <a:cubicBezTo>
                  <a:pt x="5630" y="6647"/>
                  <a:pt x="5520" y="6598"/>
                  <a:pt x="5472" y="6554"/>
                </a:cubicBezTo>
                <a:lnTo>
                  <a:pt x="5469" y="6557"/>
                </a:lnTo>
                <a:lnTo>
                  <a:pt x="3955" y="4875"/>
                </a:lnTo>
                <a:lnTo>
                  <a:pt x="3956" y="4875"/>
                </a:lnTo>
                <a:lnTo>
                  <a:pt x="3953" y="4872"/>
                </a:lnTo>
                <a:lnTo>
                  <a:pt x="3946" y="4865"/>
                </a:lnTo>
                <a:lnTo>
                  <a:pt x="3940" y="4858"/>
                </a:lnTo>
                <a:lnTo>
                  <a:pt x="3934" y="4852"/>
                </a:lnTo>
                <a:cubicBezTo>
                  <a:pt x="3568" y="5095"/>
                  <a:pt x="2992" y="5231"/>
                  <a:pt x="2673" y="5220"/>
                </a:cubicBezTo>
                <a:lnTo>
                  <a:pt x="2610" y="5219"/>
                </a:lnTo>
                <a:lnTo>
                  <a:pt x="2540" y="5220"/>
                </a:lnTo>
                <a:cubicBezTo>
                  <a:pt x="1108" y="5262"/>
                  <a:pt x="-33" y="3820"/>
                  <a:pt x="0" y="2673"/>
                </a:cubicBezTo>
                <a:lnTo>
                  <a:pt x="1" y="2610"/>
                </a:lnTo>
                <a:close/>
                <a:moveTo>
                  <a:pt x="614" y="2610"/>
                </a:moveTo>
                <a:lnTo>
                  <a:pt x="613" y="2557"/>
                </a:lnTo>
                <a:cubicBezTo>
                  <a:pt x="581" y="1461"/>
                  <a:pt x="1684" y="588"/>
                  <a:pt x="2562" y="613"/>
                </a:cubicBezTo>
                <a:lnTo>
                  <a:pt x="2610" y="614"/>
                </a:lnTo>
                <a:lnTo>
                  <a:pt x="2663" y="613"/>
                </a:lnTo>
                <a:cubicBezTo>
                  <a:pt x="3759" y="581"/>
                  <a:pt x="4632" y="1684"/>
                  <a:pt x="4607" y="2562"/>
                </a:cubicBezTo>
                <a:lnTo>
                  <a:pt x="4606" y="2610"/>
                </a:lnTo>
                <a:lnTo>
                  <a:pt x="4607" y="2663"/>
                </a:lnTo>
                <a:cubicBezTo>
                  <a:pt x="4639" y="3759"/>
                  <a:pt x="3536" y="4632"/>
                  <a:pt x="2658" y="4607"/>
                </a:cubicBezTo>
                <a:lnTo>
                  <a:pt x="2610" y="4606"/>
                </a:lnTo>
                <a:lnTo>
                  <a:pt x="2557" y="4607"/>
                </a:lnTo>
                <a:cubicBezTo>
                  <a:pt x="1461" y="4639"/>
                  <a:pt x="588" y="3536"/>
                  <a:pt x="613" y="2658"/>
                </a:cubicBezTo>
                <a:lnTo>
                  <a:pt x="614" y="26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24" name="任意多边形 103"/>
          <p:cNvSpPr/>
          <p:nvPr>
            <p:custDataLst>
              <p:tags r:id="rId20"/>
            </p:custDataLst>
          </p:nvPr>
        </p:nvSpPr>
        <p:spPr>
          <a:xfrm>
            <a:off x="6840220" y="4582162"/>
            <a:ext cx="416560" cy="311785"/>
          </a:xfrm>
          <a:custGeom>
            <a:avLst/>
            <a:gdLst>
              <a:gd name="adj" fmla="val 20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1" h="3771">
                <a:moveTo>
                  <a:pt x="0" y="768"/>
                </a:moveTo>
                <a:lnTo>
                  <a:pt x="0" y="748"/>
                </a:lnTo>
                <a:cubicBezTo>
                  <a:pt x="-12" y="326"/>
                  <a:pt x="412" y="-10"/>
                  <a:pt x="750" y="0"/>
                </a:cubicBezTo>
                <a:lnTo>
                  <a:pt x="768" y="0"/>
                </a:lnTo>
                <a:lnTo>
                  <a:pt x="4282" y="0"/>
                </a:lnTo>
                <a:lnTo>
                  <a:pt x="4302" y="0"/>
                </a:lnTo>
                <a:cubicBezTo>
                  <a:pt x="4724" y="-12"/>
                  <a:pt x="5060" y="412"/>
                  <a:pt x="5050" y="750"/>
                </a:cubicBezTo>
                <a:lnTo>
                  <a:pt x="5050" y="768"/>
                </a:lnTo>
                <a:lnTo>
                  <a:pt x="5050" y="3002"/>
                </a:lnTo>
                <a:lnTo>
                  <a:pt x="5050" y="3022"/>
                </a:lnTo>
                <a:cubicBezTo>
                  <a:pt x="5062" y="3444"/>
                  <a:pt x="4638" y="3780"/>
                  <a:pt x="4300" y="3770"/>
                </a:cubicBezTo>
                <a:lnTo>
                  <a:pt x="4282" y="3770"/>
                </a:lnTo>
                <a:lnTo>
                  <a:pt x="768" y="3770"/>
                </a:lnTo>
                <a:lnTo>
                  <a:pt x="748" y="3770"/>
                </a:lnTo>
                <a:cubicBezTo>
                  <a:pt x="326" y="3782"/>
                  <a:pt x="-10" y="3358"/>
                  <a:pt x="0" y="3020"/>
                </a:cubicBezTo>
                <a:lnTo>
                  <a:pt x="0" y="3002"/>
                </a:lnTo>
                <a:lnTo>
                  <a:pt x="0" y="768"/>
                </a:lnTo>
                <a:close/>
                <a:moveTo>
                  <a:pt x="602" y="475"/>
                </a:moveTo>
                <a:cubicBezTo>
                  <a:pt x="660" y="430"/>
                  <a:pt x="757" y="402"/>
                  <a:pt x="814" y="405"/>
                </a:cubicBezTo>
                <a:lnTo>
                  <a:pt x="823" y="405"/>
                </a:lnTo>
                <a:lnTo>
                  <a:pt x="4227" y="405"/>
                </a:lnTo>
                <a:lnTo>
                  <a:pt x="4237" y="405"/>
                </a:lnTo>
                <a:cubicBezTo>
                  <a:pt x="4310" y="400"/>
                  <a:pt x="4404" y="441"/>
                  <a:pt x="4439" y="468"/>
                </a:cubicBezTo>
                <a:lnTo>
                  <a:pt x="2515" y="1670"/>
                </a:lnTo>
                <a:lnTo>
                  <a:pt x="602" y="475"/>
                </a:lnTo>
                <a:close/>
                <a:moveTo>
                  <a:pt x="4617" y="830"/>
                </a:moveTo>
                <a:lnTo>
                  <a:pt x="4617" y="2975"/>
                </a:lnTo>
                <a:lnTo>
                  <a:pt x="4617" y="2985"/>
                </a:lnTo>
                <a:cubicBezTo>
                  <a:pt x="4624" y="3200"/>
                  <a:pt x="4408" y="3370"/>
                  <a:pt x="4236" y="3365"/>
                </a:cubicBezTo>
                <a:lnTo>
                  <a:pt x="4227" y="3365"/>
                </a:lnTo>
                <a:lnTo>
                  <a:pt x="823" y="3365"/>
                </a:lnTo>
                <a:lnTo>
                  <a:pt x="813" y="3365"/>
                </a:lnTo>
                <a:cubicBezTo>
                  <a:pt x="598" y="3372"/>
                  <a:pt x="428" y="3156"/>
                  <a:pt x="433" y="2984"/>
                </a:cubicBezTo>
                <a:lnTo>
                  <a:pt x="433" y="2975"/>
                </a:lnTo>
                <a:lnTo>
                  <a:pt x="433" y="843"/>
                </a:lnTo>
                <a:lnTo>
                  <a:pt x="2362" y="2049"/>
                </a:lnTo>
                <a:lnTo>
                  <a:pt x="2364" y="2046"/>
                </a:lnTo>
                <a:cubicBezTo>
                  <a:pt x="2364" y="2046"/>
                  <a:pt x="2389" y="2067"/>
                  <a:pt x="2397" y="2071"/>
                </a:cubicBezTo>
                <a:cubicBezTo>
                  <a:pt x="2423" y="2092"/>
                  <a:pt x="2472" y="2101"/>
                  <a:pt x="2504" y="2101"/>
                </a:cubicBezTo>
                <a:cubicBezTo>
                  <a:pt x="2535" y="2102"/>
                  <a:pt x="2572" y="2093"/>
                  <a:pt x="2589" y="2082"/>
                </a:cubicBezTo>
                <a:cubicBezTo>
                  <a:pt x="2604" y="2081"/>
                  <a:pt x="2651" y="2062"/>
                  <a:pt x="2665" y="2049"/>
                </a:cubicBezTo>
                <a:lnTo>
                  <a:pt x="2665" y="2050"/>
                </a:lnTo>
                <a:lnTo>
                  <a:pt x="4617" y="830"/>
                </a:lnTo>
                <a:close/>
                <a:moveTo>
                  <a:pt x="2364" y="2046"/>
                </a:moveTo>
                <a:lnTo>
                  <a:pt x="2364" y="2046"/>
                </a:lnTo>
                <a:lnTo>
                  <a:pt x="2364" y="2046"/>
                </a:lnTo>
                <a:lnTo>
                  <a:pt x="2365" y="2046"/>
                </a:lnTo>
                <a:lnTo>
                  <a:pt x="2364" y="20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</p:spTree>
  </p:cSld>
  <p:clrMapOvr>
    <a:masterClrMapping/>
  </p:clrMapOvr>
  <p:transition spd="slow" advTm="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9229" y="925265"/>
            <a:ext cx="7833353" cy="3154710"/>
            <a:chOff x="265578" y="1105069"/>
            <a:chExt cx="7833352" cy="3154710"/>
          </a:xfrm>
        </p:grpSpPr>
        <p:sp>
          <p:nvSpPr>
            <p:cNvPr id="4" name="文本框 3"/>
            <p:cNvSpPr txBox="1"/>
            <p:nvPr/>
          </p:nvSpPr>
          <p:spPr>
            <a:xfrm>
              <a:off x="265578" y="1388152"/>
              <a:ext cx="2954655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18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54000">
                        <a:schemeClr val="bg1"/>
                      </a:gs>
                      <a:gs pos="89000">
                        <a:schemeClr val="accent2"/>
                      </a:gs>
                    </a:gsLst>
                    <a:lin ang="5400000" scaled="0"/>
                  </a:gradFill>
                  <a:effectLst>
                    <a:outerShdw blurRad="63500" dist="63500" dir="2700000" algn="tl">
                      <a:srgbClr val="000000">
                        <a:alpha val="25000"/>
                      </a:srgbClr>
                    </a:outerShdw>
                  </a:effectLst>
                  <a:uLnTx/>
                  <a:uFillTx/>
                  <a:latin typeface="演示夏行楷" panose="00000500000000000000" pitchFamily="2" charset="-122"/>
                  <a:ea typeface="演示夏行楷" panose="00000500000000000000" pitchFamily="2" charset="-122"/>
                </a:rPr>
                <a:t>感</a:t>
              </a:r>
              <a:endParaRPr lang="zh-CN" altLang="en-US" sz="18000" dirty="0">
                <a:gradFill>
                  <a:gsLst>
                    <a:gs pos="0">
                      <a:schemeClr val="bg1"/>
                    </a:gs>
                    <a:gs pos="54000">
                      <a:schemeClr val="bg1"/>
                    </a:gs>
                    <a:gs pos="8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963654" y="1403106"/>
              <a:ext cx="2739853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166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54000">
                        <a:schemeClr val="bg1"/>
                      </a:gs>
                      <a:gs pos="89000">
                        <a:schemeClr val="accent2"/>
                      </a:gs>
                    </a:gsLst>
                    <a:lin ang="5400000" scaled="0"/>
                  </a:gradFill>
                  <a:effectLst>
                    <a:outerShdw blurRad="63500" dist="63500" dir="2700000" algn="tl">
                      <a:srgbClr val="000000">
                        <a:alpha val="25000"/>
                      </a:srgbClr>
                    </a:outerShdw>
                  </a:effectLst>
                  <a:uLnTx/>
                  <a:uFillTx/>
                  <a:latin typeface="演示夏行楷" panose="00000500000000000000" pitchFamily="2" charset="-122"/>
                  <a:ea typeface="演示夏行楷" panose="00000500000000000000" pitchFamily="2" charset="-122"/>
                </a:rPr>
                <a:t>谢</a:t>
              </a:r>
              <a:endParaRPr lang="zh-CN" altLang="en-US" sz="16600" dirty="0">
                <a:gradFill>
                  <a:gsLst>
                    <a:gs pos="0">
                      <a:schemeClr val="bg1"/>
                    </a:gs>
                    <a:gs pos="54000">
                      <a:schemeClr val="bg1"/>
                    </a:gs>
                    <a:gs pos="8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553482" y="1505362"/>
              <a:ext cx="2739853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166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54000">
                        <a:schemeClr val="bg1"/>
                      </a:gs>
                      <a:gs pos="89000">
                        <a:schemeClr val="accent2"/>
                      </a:gs>
                    </a:gsLst>
                    <a:lin ang="5400000" scaled="0"/>
                  </a:gradFill>
                  <a:effectLst>
                    <a:outerShdw blurRad="63500" dist="63500" dir="2700000" algn="tl">
                      <a:srgbClr val="000000">
                        <a:alpha val="25000"/>
                      </a:srgbClr>
                    </a:outerShdw>
                  </a:effectLst>
                  <a:uLnTx/>
                  <a:uFillTx/>
                  <a:latin typeface="演示夏行楷" panose="00000500000000000000" pitchFamily="2" charset="-122"/>
                  <a:ea typeface="演示夏行楷" panose="00000500000000000000" pitchFamily="2" charset="-122"/>
                </a:rPr>
                <a:t>观</a:t>
              </a:r>
              <a:endParaRPr lang="zh-CN" altLang="en-US" sz="16600" dirty="0">
                <a:gradFill>
                  <a:gsLst>
                    <a:gs pos="0">
                      <a:schemeClr val="bg1"/>
                    </a:gs>
                    <a:gs pos="54000">
                      <a:schemeClr val="bg1"/>
                    </a:gs>
                    <a:gs pos="8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852528" y="1105069"/>
              <a:ext cx="3246402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199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41000">
                        <a:schemeClr val="bg1"/>
                      </a:gs>
                      <a:gs pos="79000">
                        <a:schemeClr val="accent2"/>
                      </a:gs>
                    </a:gsLst>
                    <a:lin ang="5400000" scaled="0"/>
                  </a:gradFill>
                  <a:effectLst>
                    <a:outerShdw blurRad="63500" dist="63500" dir="2700000" algn="tl">
                      <a:srgbClr val="000000">
                        <a:alpha val="25000"/>
                      </a:srgbClr>
                    </a:outerShdw>
                  </a:effectLst>
                  <a:uLnTx/>
                  <a:uFillTx/>
                  <a:latin typeface="演示夏行楷" panose="00000500000000000000" pitchFamily="2" charset="-122"/>
                  <a:ea typeface="演示夏行楷" panose="00000500000000000000" pitchFamily="2" charset="-122"/>
                </a:rPr>
                <a:t>看</a:t>
              </a:r>
              <a:endParaRPr lang="zh-CN" altLang="en-US" sz="19900" dirty="0">
                <a:gradFill>
                  <a:gsLst>
                    <a:gs pos="0">
                      <a:schemeClr val="bg1"/>
                    </a:gs>
                    <a:gs pos="41000">
                      <a:schemeClr val="bg1"/>
                    </a:gs>
                    <a:gs pos="79000">
                      <a:schemeClr val="accent2"/>
                    </a:gs>
                  </a:gsLst>
                  <a:lin ang="5400000" scaled="0"/>
                </a:gradFill>
                <a:effectLst>
                  <a:outerShdw blurRad="63500" dist="63500" dir="2700000" algn="tl">
                    <a:srgbClr val="000000">
                      <a:alpha val="25000"/>
                    </a:srgbClr>
                  </a:outerShdw>
                </a:effectLst>
                <a:latin typeface="演示夏行楷" panose="00000500000000000000" pitchFamily="2" charset="-122"/>
                <a:ea typeface="演示夏行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60401" y="5203972"/>
            <a:ext cx="3881543" cy="374571"/>
            <a:chOff x="2552508" y="5255102"/>
            <a:chExt cx="3881543" cy="374571"/>
          </a:xfrm>
          <a:solidFill>
            <a:schemeClr val="accent2"/>
          </a:solidFill>
        </p:grpSpPr>
        <p:sp>
          <p:nvSpPr>
            <p:cNvPr id="16" name="矩形: 圆角 15"/>
            <p:cNvSpPr/>
            <p:nvPr/>
          </p:nvSpPr>
          <p:spPr>
            <a:xfrm>
              <a:off x="2552508" y="5255102"/>
              <a:ext cx="1864633" cy="374571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anchor="ctr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n-ea"/>
                  <a:cs typeface="+mn-ea"/>
                  <a:sym typeface="+mn-lt"/>
                </a:rPr>
                <a:t>负责人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+mn-ea"/>
                  <a:cs typeface="+mn-ea"/>
                  <a:sym typeface="+mn-lt"/>
                </a:rPr>
                <a:t>：</a:t>
              </a:r>
              <a:endParaRPr lang="zh-CN" altLang="en-US" sz="1600" dirty="0">
                <a:solidFill>
                  <a:schemeClr val="bg1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4569418" y="5255102"/>
              <a:ext cx="1864633" cy="374571"/>
            </a:xfrm>
            <a:prstGeom prst="roundRect">
              <a:avLst>
                <a:gd name="adj" fmla="val 50000"/>
              </a:avLst>
            </a:prstGeom>
            <a:grpFill/>
          </p:spPr>
          <p:txBody>
            <a:bodyPr wrap="square" anchor="ctr">
              <a:no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n-ea"/>
                  <a:cs typeface="+mn-ea"/>
                  <a:sym typeface="+mn-lt"/>
                </a:rPr>
                <a:t>时间：</a:t>
              </a:r>
              <a:endParaRPr lang="zh-CN" altLang="en-US" sz="1600" dirty="0">
                <a:solidFill>
                  <a:schemeClr val="bg1"/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3724275"/>
            <a:ext cx="8272780" cy="529435"/>
            <a:chOff x="0" y="3743087"/>
            <a:chExt cx="6915150" cy="529435"/>
          </a:xfrm>
        </p:grpSpPr>
        <p:sp>
          <p:nvSpPr>
            <p:cNvPr id="29" name="矩形 28"/>
            <p:cNvSpPr/>
            <p:nvPr/>
          </p:nvSpPr>
          <p:spPr>
            <a:xfrm>
              <a:off x="0" y="3743087"/>
              <a:ext cx="6915150" cy="529435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TextBox 13"/>
            <p:cNvSpPr txBox="1">
              <a:spLocks noChangeArrowheads="1"/>
            </p:cNvSpPr>
            <p:nvPr/>
          </p:nvSpPr>
          <p:spPr bwMode="auto">
            <a:xfrm>
              <a:off x="751601" y="3762137"/>
              <a:ext cx="5725116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30000"/>
                </a:lnSpc>
                <a:defRPr/>
              </a:pPr>
              <a:r>
                <a:rPr lang="zh-CN" altLang="en-US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基于</a:t>
              </a:r>
              <a:r>
                <a:rPr lang="en-US" altLang="zh-CN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CS171</a:t>
              </a:r>
              <a:r>
                <a:rPr lang="zh-CN" altLang="en-US" sz="2400" b="1">
                  <a:ln w="14783" cmpd="sng">
                    <a:solidFill>
                      <a:srgbClr val="FBF8C5"/>
                    </a:solidFill>
                    <a:prstDash val="solid"/>
                    <a:bevel/>
                  </a:ln>
                  <a:solidFill>
                    <a:schemeClr val="bg1"/>
                  </a:solidFill>
                  <a:effectLst>
                    <a:outerShdw blurRad="31770" dist="38100" dir="5400000" sy="-20000" rotWithShape="0">
                      <a:srgbClr val="323163">
                        <a:alpha val="20000"/>
                      </a:srgbClr>
                    </a:outerShdw>
                  </a:effectLst>
                  <a:latin typeface="汉仪程行简" panose="00020600040101010101" charset="-122"/>
                  <a:ea typeface="汉仪程行简" panose="00020600040101010101" charset="-122"/>
                  <a:sym typeface="汉仪铸字木头人简" panose="00020600040101010101" charset="-122"/>
                </a:rPr>
                <a:t>的多功能集成无人机、无人狗协同安防</a:t>
              </a:r>
              <a:endParaRPr lang="zh-CN" altLang="en-US" sz="2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85" y="88265"/>
            <a:ext cx="10521315" cy="6475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-178" b="46490"/>
          <a:stretch>
            <a:fillRect/>
          </a:stretch>
        </p:blipFill>
        <p:spPr>
          <a:xfrm>
            <a:off x="100330" y="0"/>
            <a:ext cx="12091670" cy="6369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3563" r="-112"/>
          <a:stretch>
            <a:fillRect/>
          </a:stretch>
        </p:blipFill>
        <p:spPr>
          <a:xfrm>
            <a:off x="158115" y="739140"/>
            <a:ext cx="11876405" cy="5433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5C97"/>
                </a:solidFill>
                <a:latin typeface="微软雅黑"/>
              </a:rPr>
              <a:t>典型落地场景与关键指标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050000"/>
            <a:ext cx="3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场景一：城市道路巡检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痛点：人工巡检每天仅覆盖20-30km道路，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效率低、漏检率高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方案：无人机自动巡航 + AI识别路面裂缝、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坑洼、标线磨损，自动生成养护工单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覆盖效率提升 15倍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检测准确率 &gt;95%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发现→派单→维修闭环 &lt;2小时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0" y="1050000"/>
            <a:ext cx="3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场景二：环保监测与执法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痛点：企业偷排难以发现，取证周期长，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覆盖面积有限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方案：卫星定期扫描异常热源/排放 + 无人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机抵近取证 + 地面水质/气体传感器实时监测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违规发现率提升 300%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发现→取证 &lt;30分钟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监测覆盖面积扩大 50倍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50000"/>
            <a:ext cx="3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场景三：电力线路巡检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痛点：高压线路人工巡检危险、效率低，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恶劣天气无法作业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方案：无人机沿线自动飞行 + AI识别绝缘子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破损、导线断股、杆塔倾斜等缺陷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巡检效率提升 20倍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缺陷识别率 &gt;98%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✓ 人员零风险暴露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700000"/>
            <a:ext cx="10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核心价值指标总结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● 巡检效率：人工→智能，效率提升 10-20倍          ● 响应速度：从小时级缩短至分钟级          ● 覆盖能力：单架无人机日覆盖 200+km²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● 预警准确率：AI模型准确率 &gt;95%          ● 人力成本：降低 60-80%          ● 数据价值：积累数据驱动持续优化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5C97"/>
                </a:solidFill>
                <a:latin typeface="微软雅黑"/>
              </a:rPr>
              <a:t>竞品分析与差异化优势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050000"/>
            <a:ext cx="50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5C97"/>
                </a:solidFill>
                <a:latin typeface="微软雅黑"/>
              </a:rPr>
              <a:t>海康威视 — 视频安防龙头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优势：视频监控市场占有率全球第一，硬件生态完善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劣势：侧重地面视频监控，天基（卫星/无人机）能力薄弱，数据融合能力有限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300000"/>
            <a:ext cx="50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5C97"/>
                </a:solidFill>
                <a:latin typeface="微软雅黑"/>
              </a:rPr>
              <a:t>大疆行业应用 — 无人机硬件领先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优势：无人机硬件技术全球领先，行业解决方案丰富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劣势：软件平台能力有限，缺乏卫星数据与地面传感器整合能力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550000"/>
            <a:ext cx="50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5C97"/>
                </a:solidFill>
                <a:latin typeface="微软雅黑"/>
              </a:rPr>
              <a:t>中科星图 — 卫星遥感数据处理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优势：卫星数据处理与时空大数据分析技术领先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劣势：缺乏无人机与地面传感器网络，端到端解决方案不完整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1050000"/>
            <a:ext cx="52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7AE60"/>
                </a:solidFill>
                <a:latin typeface="微软雅黑"/>
              </a:rPr>
              <a:t>我们的差异化优势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D2D2D"/>
                </a:solidFill>
                <a:latin typeface="微软雅黑"/>
              </a:rPr>
              <a:t>1. 天地一体化融合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唯一实现"卫星+无人机+地面传感器"三层协同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的全栈解决方案，打破信息孤岛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D2D2D"/>
                </a:solidFill>
                <a:latin typeface="微软雅黑"/>
              </a:rPr>
              <a:t>2. AI驱动的主动防控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自研多模态AI模型，支持事前预警而非事后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响应，从被动到主动的范式转变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D2D2D"/>
                </a:solidFill>
                <a:latin typeface="微软雅黑"/>
              </a:rPr>
              <a:t>3. 数据飞轮效应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运营数据持续积累→模型精度持续提升→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客户价值持续增长，形成竞争护城河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D2D2D"/>
                </a:solidFill>
                <a:latin typeface="微软雅黑"/>
              </a:rPr>
              <a:t>4. 轻量化部署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SaaS化交付，客户无需自建基础设施，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   降低使用门槛，加速市场渗透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5C97"/>
                </a:solidFill>
                <a:latin typeface="微软雅黑"/>
              </a:rPr>
              <a:t>商业模式与目标客户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05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5C97"/>
                </a:solidFill>
                <a:latin typeface="微软雅黑"/>
              </a:rPr>
              <a:t>三层商业模式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SaaS 订阅服务（核心营收）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按监测区域面积 + 设备接入数量按年收费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基础版：5-10万/年（单场景、小区域）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专业版：20-50万/年（多场景、中等区域）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企业版：100万+/年（全域覆盖、定制化）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定制化解决方案（高毛利）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针对大型客户的整体解决方案交付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数据增值服务（长期价值）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历史数据分析报告、趋势预测、行业洞察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0000" y="1050000"/>
            <a:ext cx="5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5C97"/>
                </a:solidFill>
                <a:latin typeface="微软雅黑"/>
              </a:rPr>
              <a:t>目标客户画像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第一梯队 — 政府部门（优先切入）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城市管理局、交通运输局、生态环境局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决策链长但预算充足，适合标杆项目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第二梯队 — 大型企业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电力/能源集团、高速公路运营、水务集团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付费意愿强，场景明确，可快速复制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2D2D"/>
                </a:solidFill>
                <a:latin typeface="微软雅黑"/>
              </a:rPr>
              <a:t>第三梯队 — 园区/地产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智慧园区、大型社区、产业基地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规模较小但数量多，适合SaaS标准化交付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600000"/>
            <a:ext cx="10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营收预期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Year 1：聚焦1-2个标杆客户，验证产品，目标营收 100-300万    |    Year 2：扩展至5-10个客户，目标营收 500-1000万    |    Year 3：SaaS平台规模化，目标营收 2000-5000万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盈亏平衡预计在第2年末至第3年初实现，核心驱动力为SaaS续费率与客户扩展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5C97"/>
                </a:solidFill>
                <a:latin typeface="微软雅黑"/>
              </a:rPr>
              <a:t>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05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92D1"/>
                </a:solidFill>
                <a:latin typeface="微软雅黑"/>
              </a:rPr>
              <a:t>Phase 1：MVP验证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66666"/>
                </a:solidFill>
                <a:latin typeface="微软雅黑"/>
              </a:rPr>
              <a:t>0 - 6 个月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完成核心AI识别模型开发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 （路面缺陷、违规行为检测）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搭建基础云平台与数据接入层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单场景试点验证（城市道路巡检）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接入1-2类无人机硬件平台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里程碑：完成1个标杆客户POC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0000" y="105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92D1"/>
                </a:solidFill>
                <a:latin typeface="微软雅黑"/>
              </a:rPr>
              <a:t>Phase 2：产品扩展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66666"/>
                </a:solidFill>
                <a:latin typeface="微软雅黑"/>
              </a:rPr>
              <a:t>6 - 12 个月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接入卫星遥感数据源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开发无人机自动巡航模块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增加2-3个应用场景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   （环保监测、电力巡检）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建立多源数据融合引擎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开发可视化大屏与管理后台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里程碑：签约5+付费客户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0000" y="1050000"/>
            <a:ext cx="36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92D1"/>
                </a:solidFill>
                <a:latin typeface="微软雅黑"/>
              </a:rPr>
              <a:t>Phase 3：规模化运营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666666"/>
                </a:solidFill>
                <a:latin typeface="微软雅黑"/>
              </a:rPr>
              <a:t>12 - 24 个月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SaaS平台正式上线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覆盖5+城市/区域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开放API生态，对接第三方系统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数据飞轮驱动模型持续优化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D2D2D"/>
                </a:solidFill>
                <a:latin typeface="微软雅黑"/>
              </a:rPr>
              <a:t>▸ 探索海外市场机会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里程碑：实现盈亏平衡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微软雅黑"/>
              </a:rPr>
              <a:t>ARR突破2000万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90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5C97"/>
                </a:solidFill>
                <a:latin typeface="微软雅黑"/>
              </a:rPr>
              <a:t>核心团队能力要求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技术负责人：AI/CV算法 + 大数据架构经验    |    产品负责人：智慧城市/行业信息化背景    |    商务负责人：政府/大客户销售经验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D2D2D"/>
                </a:solidFill>
                <a:latin typeface="微软雅黑"/>
              </a:rPr>
              <a:t>硬件工程师：无人机系统集成 + 传感器选型    |    后端工程师：云原生架构 + 高并发处理    |    前端工程师：GIS可视化 + 大屏开发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666666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E74C3C"/>
                </a:solidFill>
                <a:latin typeface="微软雅黑"/>
              </a:rPr>
              <a:t>⚠ 请补充实际团队成员信息与核心履历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2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3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4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5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6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7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8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9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0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1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2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3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4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5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6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7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8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19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20.xml><?xml version="1.0" encoding="utf-8"?>
<p:tagLst xmlns:p="http://schemas.openxmlformats.org/presentationml/2006/main">
  <p:tag name="KSO_WM_DIAGRAM_VIRTUALLY_FRAME" val="{&quot;height&quot;:277.2103149606299,&quot;left&quot;:56.85007874015746,&quot;top&quot;:198.66149606299211,&quot;width&quot;:845.35}"/>
</p:tagLst>
</file>

<file path=ppt/tags/tag21.xml><?xml version="1.0" encoding="utf-8"?>
<p:tagLst xmlns:p="http://schemas.openxmlformats.org/presentationml/2006/main">
  <p:tag name="KSO_WM_DIAGRAM_VIRTUALLY_FRAME" val="{&quot;height&quot;:372.50019685039365,&quot;left&quot;:442.7155118110236,&quot;top&quot;:106.63287401574803,&quot;width&quot;:456.484842519685}"/>
</p:tagLst>
</file>

<file path=ppt/tags/tag22.xml><?xml version="1.0" encoding="utf-8"?>
<p:tagLst xmlns:p="http://schemas.openxmlformats.org/presentationml/2006/main">
  <p:tag name="KSO_WM_DIAGRAM_VIRTUALLY_FRAME" val="{&quot;height&quot;:372.50019685039365,&quot;left&quot;:442.7155118110236,&quot;top&quot;:106.63287401574803,&quot;width&quot;:456.484842519685}"/>
</p:tagLst>
</file>

<file path=ppt/tags/tag23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24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25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26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27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28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29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0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1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2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3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4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5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6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7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8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39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0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1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42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3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4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5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46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47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48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49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0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1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2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3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4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5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6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7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58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59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60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61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62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63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64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65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66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67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68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69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70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71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72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73.xml><?xml version="1.0" encoding="utf-8"?>
<p:tagLst xmlns:p="http://schemas.openxmlformats.org/presentationml/2006/main">
  <p:tag name="KSO_WM_DIAGRAM_VIRTUALLY_FRAME" val="{&quot;height&quot;:430.0147244094489,&quot;left&quot;:137.85874015748033,&quot;top&quot;:55.21196850393701,&quot;width&quot;:719.5558267716535}"/>
</p:tagLst>
</file>

<file path=ppt/tags/tag74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75.xml><?xml version="1.0" encoding="utf-8"?>
<p:tagLst xmlns:p="http://schemas.openxmlformats.org/presentationml/2006/main">
  <p:tag name="KSO_WM_DIAGRAM_VIRTUALLY_FRAME" val="{&quot;height&quot;:380.3414173228347,&quot;left&quot;:137.85874015748033,&quot;top&quot;:104.88527559055117,&quot;width&quot;:719.5558267716535}"/>
</p:tagLst>
</file>

<file path=ppt/tags/tag76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77.xml><?xml version="1.0" encoding="utf-8"?>
<p:tagLst xmlns:p="http://schemas.openxmlformats.org/presentationml/2006/main">
  <p:tag name="KSO_WM_DIAGRAM_VIRTUALLY_FRAME" val="{&quot;height&quot;:313.1296062992125,&quot;left&quot;:0,&quot;top&quot;:130.14409448818895,&quot;width&quot;:858.8182677165354}"/>
</p:tagLst>
</file>

<file path=ppt/tags/tag78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79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80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81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82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83.xml><?xml version="1.0" encoding="utf-8"?>
<p:tagLst xmlns:p="http://schemas.openxmlformats.org/presentationml/2006/main">
  <p:tag name="KSO_WM_DIAGRAM_VIRTUALLY_FRAME" val="{&quot;height&quot;:313.2796064016944,&quot;left&quot;:0,&quot;top&quot;:129.99409438570711,&quot;width&quot;:858.8182677165354}"/>
</p:tagLst>
</file>

<file path=ppt/tags/tag84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85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86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87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88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89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0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1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2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3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4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5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6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7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8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99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0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1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2.xml><?xml version="1.0" encoding="utf-8"?>
<p:tagLst xmlns:p="http://schemas.openxmlformats.org/presentationml/2006/main">
  <p:tag name="KSO_WM_DIAGRAM_VIRTUALLY_FRAME" val="{&quot;height&quot;:313.1296062992125,&quot;left&quot;:0,&quot;top&quot;:130.14409448818895,&quot;width&quot;:858.8182677165354}"/>
</p:tagLst>
</file>

<file path=ppt/tags/tag103.xml><?xml version="1.0" encoding="utf-8"?>
<p:tagLst xmlns:p="http://schemas.openxmlformats.org/presentationml/2006/main">
  <p:tag name="KSO_WM_DIAGRAM_VIRTUALLY_FRAME" val="{&quot;height&quot;:313.1296062992125,&quot;left&quot;:0,&quot;top&quot;:130.14409448818895,&quot;width&quot;:858.8182677165354}"/>
</p:tagLst>
</file>

<file path=ppt/tags/tag104.xml><?xml version="1.0" encoding="utf-8"?>
<p:tagLst xmlns:p="http://schemas.openxmlformats.org/presentationml/2006/main">
  <p:tag name="KSO_WM_DIAGRAM_VIRTUALLY_FRAME" val="{&quot;height&quot;:313.1296062992125,&quot;left&quot;:0,&quot;top&quot;:130.14409448818895,&quot;width&quot;:858.8182677165354}"/>
</p:tagLst>
</file>

<file path=ppt/tags/tag105.xml><?xml version="1.0" encoding="utf-8"?>
<p:tagLst xmlns:p="http://schemas.openxmlformats.org/presentationml/2006/main">
  <p:tag name="KSO_WM_DIAGRAM_VIRTUALLY_FRAME" val="{&quot;height&quot;:313.1296062992125,&quot;left&quot;:0,&quot;top&quot;:130.14409448818895,&quot;width&quot;:858.8182677165354}"/>
</p:tagLst>
</file>

<file path=ppt/tags/tag106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7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8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09.xml><?xml version="1.0" encoding="utf-8"?>
<p:tagLst xmlns:p="http://schemas.openxmlformats.org/presentationml/2006/main">
  <p:tag name="KSO_WM_DIAGRAM_VIRTUALLY_FRAME" val="{&quot;height&quot;:379.11627458786313,&quot;left&quot;:0,&quot;top&quot;:130.14409448818895,&quot;width&quot;:858.8182677165354}"/>
</p:tagLst>
</file>

<file path=ppt/tags/tag110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1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2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3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4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5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6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7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8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19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0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1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2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3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4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5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6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7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8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29.xml><?xml version="1.0" encoding="utf-8"?>
<p:tagLst xmlns:p="http://schemas.openxmlformats.org/presentationml/2006/main">
  <p:tag name="KSO_WM_DIAGRAM_VIRTUALLY_FRAME" val="{&quot;height&quot;:315.99999999999994,&quot;left&quot;:52.65015748031497,&quot;top&quot;:128.05015748031497,&quot;width&quot;:854.6999212598427}"/>
</p:tagLst>
</file>

<file path=ppt/tags/tag130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ZDE3MDI0NjBmMWI5ZWU3NTFmNDdlYjk0OTdiNjQ0MWMifQ=="/>
</p:tagLst>
</file>

<file path=ppt/theme/theme1.xml><?xml version="1.0" encoding="utf-8"?>
<a:theme xmlns:a="http://schemas.openxmlformats.org/drawingml/2006/main" name="第一PPT，www.1ppt.com">
  <a:themeElements>
    <a:clrScheme name="自定义 34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56EC2"/>
      </a:accent1>
      <a:accent2>
        <a:srgbClr val="E6A249"/>
      </a:accent2>
      <a:accent3>
        <a:srgbClr val="356EC2"/>
      </a:accent3>
      <a:accent4>
        <a:srgbClr val="E6A249"/>
      </a:accent4>
      <a:accent5>
        <a:srgbClr val="356EC2"/>
      </a:accent5>
      <a:accent6>
        <a:srgbClr val="E6A249"/>
      </a:accent6>
      <a:hlink>
        <a:srgbClr val="356EC2"/>
      </a:hlink>
      <a:folHlink>
        <a:srgbClr val="7F7F7F"/>
      </a:folHlink>
    </a:clrScheme>
    <a:fontScheme name="自定义 246">
      <a:majorFont>
        <a:latin typeface="阿里巴巴普惠体"/>
        <a:ea typeface="汉呈安景臣手书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86B2D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WPS 演示</Application>
  <PresentationFormat>自定义</PresentationFormat>
  <Paragraphs>166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思源黑体 CN Normal</vt:lpstr>
      <vt:lpstr>思源黑体 CN Medium</vt:lpstr>
      <vt:lpstr>Calibri</vt:lpstr>
      <vt:lpstr>汉仪程行简</vt:lpstr>
      <vt:lpstr>汉仪铸字木头人简</vt:lpstr>
      <vt:lpstr>演示夏行楷</vt:lpstr>
      <vt:lpstr>Aa润行体 (非商业使用)</vt:lpstr>
      <vt:lpstr>汉仪君黑-45简</vt:lpstr>
      <vt:lpstr>阿里巴巴普惠体</vt:lpstr>
      <vt:lpstr>SWAstro</vt:lpstr>
      <vt:lpstr>Arial Unicode MS</vt:lpstr>
      <vt:lpstr>汉呈安景臣手书体</vt:lpstr>
      <vt:lpstr>等线</vt:lpstr>
      <vt:lpstr>黑体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Mirror</cp:lastModifiedBy>
  <cp:revision>50</cp:revision>
  <dcterms:created xsi:type="dcterms:W3CDTF">2020-05-12T06:14:00Z</dcterms:created>
  <dcterms:modified xsi:type="dcterms:W3CDTF">2025-11-29T08:03:12Z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00A032B206304402A91F5C53EB2019D5_13</vt:lpwstr>
  </property>
  <property fmtid="{D5CDD505-2E9C-101B-9397-08002B2CF9AE}" pid="3" name="KSOProductBuildVer">
    <vt:lpwstr>2052-12.1.0.23542</vt:lpwstr>
  </property>
</Properties>
</file>